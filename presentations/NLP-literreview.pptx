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62" r:id="rId2"/>
    <p:sldId id="263" r:id="rId3"/>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20"/>
    <p:restoredTop sz="80890"/>
  </p:normalViewPr>
  <p:slideViewPr>
    <p:cSldViewPr snapToGrid="0" snapToObjects="1">
      <p:cViewPr varScale="1">
        <p:scale>
          <a:sx n="101" d="100"/>
          <a:sy n="101" d="100"/>
        </p:scale>
        <p:origin x="1128"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80676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a:spLocks noGrp="1"/>
          </p:cNvSpPr>
          <p:nvPr>
            <p:ph type="body"/>
          </p:nvPr>
        </p:nvSpPr>
        <p:spPr>
          <a:xfrm>
            <a:off x="0" y="0"/>
            <a:ext cx="0" cy="0"/>
          </a:xfrm>
          <a:prstGeom prst="rect">
            <a:avLst/>
          </a:prstGeom>
          <a:noFill/>
        </p:spPr>
        <p:txBody>
          <a:bodyPr/>
          <a:lstStyle/>
          <a:p>
            <a:r>
              <a:rPr lang="en-US" sz="1200" noProof="1"/>
              <a:t>Before our method, we look at how the field measures the problem. T2I-CompBench, from Huang and colleagues at NeurIPS 2023, is the standard benchmark for compositional text-to-image generation. It defines six test categories, with three hundred prompts per category and ten images per prompt. Its key finding matters to us: models handle color, shape, and texture fairly well, but spatial relations are the weakest category across almost all models. The figure on the right is taken from the paper: it shows how the spatial score works — UniDet detects each object, and the system then checks positions and depth against the text. That is exactly the failure we saw in the motivation. We therefore adopt its protocol for our own evaluation, as shown on the data and evaluation page.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a:spLocks noGrp="1"/>
          </p:cNvSpPr>
          <p:nvPr>
            <p:ph type="body"/>
          </p:nvPr>
        </p:nvSpPr>
        <p:spPr>
          <a:xfrm>
            <a:off x="0" y="0"/>
            <a:ext cx="0" cy="0"/>
          </a:xfrm>
          <a:prstGeom prst="rect">
            <a:avLst/>
          </a:prstGeom>
          <a:noFill/>
        </p:spPr>
        <p:txBody>
          <a:bodyPr/>
          <a:lstStyle/>
          <a:p>
            <a:r>
              <a:rPr lang="en-US" sz="1200" noProof="1"/>
              <a:t>Two method lines are closest to our work. First, LLM-grounded Diffusion from Lian and colleagues lets a language model write a scene layout with bounding boxes and captions, and a grounded diffusion model then paints each region. It gives strong spatial control, but the layout is written once and never checked. Second, RPG from Yang and colleagues at ICML 2024 uses multimodal LLM agents to recaption the prompt, split it into sub-regions, and generate region by region. It improves composition, but the agent roles are fixed and feedback flows in one direction only. This is the gap our system fills: an evaluator checks the plan before generation, and when something is wrong, the conductor traces the failure back to the responsible agents for another round.</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E7508921-9D7F-83A1-2FCD-045A812CF9B4}"/>
              </a:ext>
            </a:extLst>
          </p:cNvPr>
          <p:cNvPicPr>
            <a:picLocks noChangeAspect="1"/>
          </p:cNvPicPr>
          <p:nvPr/>
        </p:nvPicPr>
        <p:blipFill>
          <a:blip r:embed="rId3"/>
          <a:stretch>
            <a:fillRect/>
          </a:stretch>
        </p:blipFill>
        <p:spPr>
          <a:xfrm>
            <a:off x="6090920" y="3253873"/>
            <a:ext cx="5026660" cy="3121394"/>
          </a:xfrm>
          <a:prstGeom prst="rect">
            <a:avLst/>
          </a:prstGeom>
        </p:spPr>
      </p:pic>
      <p:sp>
        <p:nvSpPr>
          <p:cNvPr id="2" name="title"/>
          <p:cNvSpPr txBox="1"/>
          <p:nvPr/>
        </p:nvSpPr>
        <p:spPr>
          <a:xfrm>
            <a:off x="628650" y="457200"/>
            <a:ext cx="10839450" cy="609600"/>
          </a:xfrm>
          <a:prstGeom prst="rect">
            <a:avLst/>
          </a:prstGeom>
          <a:noFill/>
          <a:ln>
            <a:noFill/>
          </a:ln>
        </p:spPr>
        <p:txBody>
          <a:bodyPr wrap="square" lIns="0" tIns="0" rIns="0" bIns="0" rtlCol="0" anchor="t"/>
          <a:lstStyle/>
          <a:p>
            <a:pPr algn="l">
              <a:lnSpc>
                <a:spcPct val="120000"/>
              </a:lnSpc>
            </a:pPr>
            <a:r>
              <a:rPr lang="en-US" sz="3300" b="1" noProof="1">
                <a:solidFill>
                  <a:srgbClr val="183447"/>
                </a:solidFill>
                <a:latin typeface="Arial"/>
                <a:ea typeface="Arial"/>
              </a:rPr>
              <a:t>Literature review: measuring composition</a:t>
            </a:r>
            <a:endParaRPr lang="en-US" sz="3300" noProof="1"/>
          </a:p>
        </p:txBody>
      </p:sp>
      <p:sp>
        <p:nvSpPr>
          <p:cNvPr id="3" name="pageno"/>
          <p:cNvSpPr txBox="1"/>
          <p:nvPr/>
        </p:nvSpPr>
        <p:spPr>
          <a:xfrm>
            <a:off x="10858500" y="6334760"/>
            <a:ext cx="685800" cy="228600"/>
          </a:xfrm>
          <a:prstGeom prst="rect">
            <a:avLst/>
          </a:prstGeom>
          <a:noFill/>
          <a:ln>
            <a:noFill/>
          </a:ln>
        </p:spPr>
        <p:txBody>
          <a:bodyPr wrap="square" lIns="0" tIns="0" rIns="0" bIns="0" rtlCol="0" anchor="t"/>
          <a:lstStyle/>
          <a:p>
            <a:pPr algn="l">
              <a:lnSpc>
                <a:spcPct val="120000"/>
              </a:lnSpc>
            </a:pPr>
            <a:r>
              <a:rPr lang="en-US" sz="1350" noProof="1">
                <a:solidFill>
                  <a:srgbClr val="536875"/>
                </a:solidFill>
                <a:latin typeface="Arial"/>
                <a:ea typeface="Arial"/>
              </a:rPr>
              <a:t>6 / 7</a:t>
            </a:r>
            <a:endParaRPr lang="en-US" sz="1350" noProof="1"/>
          </a:p>
        </p:txBody>
      </p:sp>
      <p:sp>
        <p:nvSpPr>
          <p:cNvPr id="4" name="label-paper"/>
          <p:cNvSpPr txBox="1"/>
          <p:nvPr/>
        </p:nvSpPr>
        <p:spPr>
          <a:xfrm>
            <a:off x="628650" y="1438910"/>
            <a:ext cx="4857750" cy="279400"/>
          </a:xfrm>
          <a:prstGeom prst="rect">
            <a:avLst/>
          </a:prstGeom>
          <a:noFill/>
          <a:ln>
            <a:noFill/>
          </a:ln>
        </p:spPr>
        <p:txBody>
          <a:bodyPr wrap="none" lIns="0" tIns="0" rIns="0" bIns="0" rtlCol="0" anchor="t"/>
          <a:lstStyle/>
          <a:p>
            <a:pPr algn="l">
              <a:lnSpc>
                <a:spcPct val="120000"/>
              </a:lnSpc>
            </a:pPr>
            <a:r>
              <a:rPr lang="en-US" sz="1500" b="1" kern="0" spc="150" noProof="1">
                <a:solidFill>
                  <a:srgbClr val="117F85"/>
                </a:solidFill>
                <a:latin typeface="Arial"/>
                <a:ea typeface="Arial"/>
              </a:rPr>
              <a:t>PAPER 1 · BENCHMARK</a:t>
            </a:r>
            <a:endParaRPr lang="en-US" sz="1500" noProof="1"/>
          </a:p>
        </p:txBody>
      </p:sp>
      <p:sp>
        <p:nvSpPr>
          <p:cNvPr id="5" name="paper-title"/>
          <p:cNvSpPr txBox="1"/>
          <p:nvPr/>
        </p:nvSpPr>
        <p:spPr>
          <a:xfrm>
            <a:off x="628650" y="1800860"/>
            <a:ext cx="4857750" cy="514350"/>
          </a:xfrm>
          <a:prstGeom prst="rect">
            <a:avLst/>
          </a:prstGeom>
          <a:noFill/>
          <a:ln>
            <a:noFill/>
          </a:ln>
        </p:spPr>
        <p:txBody>
          <a:bodyPr wrap="square" lIns="0" tIns="0" rIns="0" bIns="0" rtlCol="0" anchor="t"/>
          <a:lstStyle/>
          <a:p>
            <a:pPr algn="l">
              <a:lnSpc>
                <a:spcPct val="120000"/>
              </a:lnSpc>
            </a:pPr>
            <a:r>
              <a:rPr lang="en-US" sz="2700" b="1" noProof="1">
                <a:solidFill>
                  <a:srgbClr val="117F85"/>
                </a:solidFill>
                <a:latin typeface="Arial"/>
                <a:ea typeface="Arial"/>
              </a:rPr>
              <a:t>T2I-CompBench</a:t>
            </a:r>
            <a:endParaRPr lang="en-US" sz="2700" noProof="1"/>
          </a:p>
        </p:txBody>
      </p:sp>
      <p:sp>
        <p:nvSpPr>
          <p:cNvPr id="6" name="paper-venue"/>
          <p:cNvSpPr txBox="1"/>
          <p:nvPr/>
        </p:nvSpPr>
        <p:spPr>
          <a:xfrm>
            <a:off x="628650" y="2372360"/>
            <a:ext cx="4857750" cy="342900"/>
          </a:xfrm>
          <a:prstGeom prst="rect">
            <a:avLst/>
          </a:prstGeom>
          <a:noFill/>
          <a:ln>
            <a:noFill/>
          </a:ln>
        </p:spPr>
        <p:txBody>
          <a:bodyPr wrap="square" lIns="0" tIns="0" rIns="0" bIns="0" rtlCol="0" anchor="t"/>
          <a:lstStyle/>
          <a:p>
            <a:pPr algn="l">
              <a:lnSpc>
                <a:spcPct val="120000"/>
              </a:lnSpc>
            </a:pPr>
            <a:r>
              <a:rPr lang="en-US" sz="1875" b="1" noProof="1">
                <a:solidFill>
                  <a:srgbClr val="183447"/>
                </a:solidFill>
                <a:latin typeface="Arial"/>
                <a:ea typeface="Arial"/>
              </a:rPr>
              <a:t>Huang et al., NeurIPS 2023</a:t>
            </a:r>
            <a:endParaRPr lang="en-US" sz="1875" noProof="1"/>
          </a:p>
        </p:txBody>
      </p:sp>
      <p:sp>
        <p:nvSpPr>
          <p:cNvPr id="7" name="paper-desc"/>
          <p:cNvSpPr txBox="1"/>
          <p:nvPr/>
        </p:nvSpPr>
        <p:spPr>
          <a:xfrm>
            <a:off x="628650" y="2857500"/>
            <a:ext cx="4857750" cy="685800"/>
          </a:xfrm>
          <a:prstGeom prst="rect">
            <a:avLst/>
          </a:prstGeom>
          <a:noFill/>
          <a:ln>
            <a:noFill/>
          </a:ln>
        </p:spPr>
        <p:txBody>
          <a:bodyPr wrap="square" lIns="0" tIns="0" rIns="0" bIns="0" rtlCol="0" anchor="t"/>
          <a:lstStyle/>
          <a:p>
            <a:pPr algn="l">
              <a:lnSpc>
                <a:spcPct val="130000"/>
              </a:lnSpc>
            </a:pPr>
            <a:r>
              <a:rPr lang="en-US" sz="1875" noProof="1">
                <a:solidFill>
                  <a:srgbClr val="536875"/>
                </a:solidFill>
                <a:latin typeface="Arial"/>
                <a:ea typeface="Arial"/>
              </a:rPr>
              <a:t>The standard benchmark for compositional</a:t>
            </a:r>
            <a:endParaRPr lang="en-US" sz="1875" noProof="1"/>
          </a:p>
          <a:p>
            <a:pPr algn="l">
              <a:lnSpc>
                <a:spcPct val="130000"/>
              </a:lnSpc>
            </a:pPr>
            <a:r>
              <a:rPr lang="en-US" sz="1875" noProof="1">
                <a:solidFill>
                  <a:srgbClr val="536875"/>
                </a:solidFill>
                <a:latin typeface="Arial"/>
                <a:ea typeface="Arial"/>
              </a:rPr>
              <a:t>text-to-image generation.</a:t>
            </a:r>
            <a:endParaRPr lang="en-US" sz="1875" noProof="1"/>
          </a:p>
        </p:txBody>
      </p:sp>
      <p:sp>
        <p:nvSpPr>
          <p:cNvPr id="8" name="paper-stats"/>
          <p:cNvSpPr txBox="1"/>
          <p:nvPr/>
        </p:nvSpPr>
        <p:spPr>
          <a:xfrm>
            <a:off x="628650" y="3810000"/>
            <a:ext cx="4857750" cy="1066800"/>
          </a:xfrm>
          <a:prstGeom prst="rect">
            <a:avLst/>
          </a:prstGeom>
          <a:noFill/>
          <a:ln>
            <a:noFill/>
          </a:ln>
        </p:spPr>
        <p:txBody>
          <a:bodyPr wrap="square" lIns="0" tIns="0" rIns="0" bIns="0" rtlCol="0" anchor="t"/>
          <a:lstStyle/>
          <a:p>
            <a:pPr algn="l">
              <a:lnSpc>
                <a:spcPct val="135000"/>
              </a:lnSpc>
            </a:pPr>
            <a:r>
              <a:rPr lang="en-US" sz="2400" b="1" noProof="1">
                <a:solidFill>
                  <a:srgbClr val="183447"/>
                </a:solidFill>
                <a:latin typeface="Arial"/>
                <a:ea typeface="Arial"/>
              </a:rPr>
              <a:t>6 categories</a:t>
            </a:r>
            <a:endParaRPr lang="en-US" sz="2400" noProof="1"/>
          </a:p>
          <a:p>
            <a:pPr algn="l">
              <a:lnSpc>
                <a:spcPct val="135000"/>
              </a:lnSpc>
            </a:pPr>
            <a:r>
              <a:rPr lang="en-US" sz="2400" b="1" noProof="1">
                <a:solidFill>
                  <a:srgbClr val="183447"/>
                </a:solidFill>
                <a:latin typeface="Arial"/>
                <a:ea typeface="Arial"/>
              </a:rPr>
              <a:t>300 prompts · 10 images each</a:t>
            </a:r>
            <a:endParaRPr lang="en-US" sz="2400" noProof="1"/>
          </a:p>
        </p:txBody>
      </p:sp>
      <p:sp>
        <p:nvSpPr>
          <p:cNvPr id="9" name="take-label"/>
          <p:cNvSpPr txBox="1"/>
          <p:nvPr/>
        </p:nvSpPr>
        <p:spPr>
          <a:xfrm>
            <a:off x="628650" y="5257800"/>
            <a:ext cx="4857750" cy="279400"/>
          </a:xfrm>
          <a:prstGeom prst="rect">
            <a:avLst/>
          </a:prstGeom>
          <a:noFill/>
          <a:ln>
            <a:noFill/>
          </a:ln>
        </p:spPr>
        <p:txBody>
          <a:bodyPr wrap="none" lIns="0" tIns="0" rIns="0" bIns="0" rtlCol="0" anchor="t"/>
          <a:lstStyle/>
          <a:p>
            <a:pPr algn="l">
              <a:lnSpc>
                <a:spcPct val="120000"/>
              </a:lnSpc>
            </a:pPr>
            <a:r>
              <a:rPr lang="en-US" sz="1500" b="1" kern="0" spc="150" noProof="1">
                <a:solidFill>
                  <a:srgbClr val="117F85"/>
                </a:solidFill>
                <a:latin typeface="Arial"/>
                <a:ea typeface="Arial"/>
              </a:rPr>
              <a:t>WHAT WE TAKE FROM IT</a:t>
            </a:r>
            <a:endParaRPr lang="en-US" sz="1500" noProof="1"/>
          </a:p>
        </p:txBody>
      </p:sp>
      <p:sp>
        <p:nvSpPr>
          <p:cNvPr id="10" name="take-text"/>
          <p:cNvSpPr txBox="1"/>
          <p:nvPr/>
        </p:nvSpPr>
        <p:spPr>
          <a:xfrm>
            <a:off x="628650" y="5600700"/>
            <a:ext cx="4857750" cy="635000"/>
          </a:xfrm>
          <a:prstGeom prst="rect">
            <a:avLst/>
          </a:prstGeom>
          <a:noFill/>
          <a:ln>
            <a:noFill/>
          </a:ln>
        </p:spPr>
        <p:txBody>
          <a:bodyPr wrap="square" lIns="0" tIns="0" rIns="0" bIns="0" rtlCol="0" anchor="t"/>
          <a:lstStyle/>
          <a:p>
            <a:pPr algn="l">
              <a:lnSpc>
                <a:spcPct val="130000"/>
              </a:lnSpc>
            </a:pPr>
            <a:r>
              <a:rPr lang="en-US" sz="1725" b="1" noProof="1">
                <a:solidFill>
                  <a:srgbClr val="117F85"/>
                </a:solidFill>
                <a:latin typeface="Arial"/>
                <a:ea typeface="Arial"/>
              </a:rPr>
              <a:t>We adopt its categories and scoring protocol</a:t>
            </a:r>
            <a:endParaRPr lang="en-US" sz="1725" noProof="1"/>
          </a:p>
          <a:p>
            <a:pPr algn="l">
              <a:lnSpc>
                <a:spcPct val="130000"/>
              </a:lnSpc>
            </a:pPr>
            <a:r>
              <a:rPr lang="en-US" sz="1725" b="1" noProof="1">
                <a:solidFill>
                  <a:srgbClr val="117F85"/>
                </a:solidFill>
                <a:latin typeface="Arial"/>
                <a:ea typeface="Arial"/>
              </a:rPr>
              <a:t>for our own evaluation.</a:t>
            </a:r>
            <a:endParaRPr lang="en-US" sz="1725" noProof="1"/>
          </a:p>
        </p:txBody>
      </p:sp>
      <p:sp>
        <p:nvSpPr>
          <p:cNvPr id="11" name="divider"/>
          <p:cNvSpPr/>
          <p:nvPr>
            <p:extLst>
              <p:ext uri="{F5677B7D-0D2A-4D9B-9A5C-6D8D7D0E5A5D}">
                <pptd:line xmlns=""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encoding="base64url">eyJ2aWV3Qm94IjpbMSwzNzJdLCJwb2ludHMiOiIwLjUsMCAwLjUsMzcyIn0</pptd:line>
              </p:ext>
            </p:extLst>
          </p:nvPr>
        </p:nvSpPr>
        <p:spPr>
          <a:xfrm>
            <a:off x="5782310" y="1438910"/>
            <a:ext cx="12700" cy="4724400"/>
          </a:xfrm>
          <a:custGeom>
            <a:avLst/>
            <a:gdLst/>
            <a:ahLst/>
            <a:cxnLst/>
            <a:rect l="l" t="t" r="r" b="b"/>
            <a:pathLst>
              <a:path w="1" h="372">
                <a:moveTo>
                  <a:pt x="1" y="0"/>
                </a:moveTo>
                <a:lnTo>
                  <a:pt x="1" y="372"/>
                </a:lnTo>
              </a:path>
            </a:pathLst>
          </a:custGeom>
          <a:noFill/>
          <a:ln w="12700" cap="rnd">
            <a:solidFill>
              <a:srgbClr val="D8DEE2"/>
            </a:solidFill>
            <a:round/>
          </a:ln>
        </p:spPr>
        <p:txBody>
          <a:bodyPr/>
          <a:lstStyle/>
          <a:p>
            <a:endParaRPr lang="en-US"/>
          </a:p>
        </p:txBody>
      </p:sp>
      <p:sp>
        <p:nvSpPr>
          <p:cNvPr id="12" name="right-label"/>
          <p:cNvSpPr txBox="1"/>
          <p:nvPr/>
        </p:nvSpPr>
        <p:spPr>
          <a:xfrm>
            <a:off x="6096000" y="1438910"/>
            <a:ext cx="5448300" cy="279400"/>
          </a:xfrm>
          <a:prstGeom prst="rect">
            <a:avLst/>
          </a:prstGeom>
          <a:noFill/>
          <a:ln>
            <a:noFill/>
          </a:ln>
        </p:spPr>
        <p:txBody>
          <a:bodyPr wrap="none" lIns="0" tIns="0" rIns="0" bIns="0" rtlCol="0" anchor="t"/>
          <a:lstStyle/>
          <a:p>
            <a:pPr algn="l">
              <a:lnSpc>
                <a:spcPct val="120000"/>
              </a:lnSpc>
            </a:pPr>
            <a:r>
              <a:rPr lang="en-US" sz="1500" b="1" kern="0" spc="150" noProof="1">
                <a:solidFill>
                  <a:srgbClr val="C0504D"/>
                </a:solidFill>
                <a:latin typeface="Arial"/>
                <a:ea typeface="Arial"/>
              </a:rPr>
              <a:t>WHAT IT SHOWS</a:t>
            </a:r>
            <a:endParaRPr lang="en-US" sz="1500" noProof="1"/>
          </a:p>
        </p:txBody>
      </p:sp>
      <p:sp>
        <p:nvSpPr>
          <p:cNvPr id="13" name="right-finding"/>
          <p:cNvSpPr txBox="1"/>
          <p:nvPr/>
        </p:nvSpPr>
        <p:spPr>
          <a:xfrm>
            <a:off x="6096000" y="1800860"/>
            <a:ext cx="5448300" cy="1254760"/>
          </a:xfrm>
          <a:prstGeom prst="rect">
            <a:avLst/>
          </a:prstGeom>
          <a:noFill/>
          <a:ln>
            <a:noFill/>
          </a:ln>
        </p:spPr>
        <p:txBody>
          <a:bodyPr wrap="square" lIns="0" tIns="0" rIns="0" bIns="0" rtlCol="0" anchor="t"/>
          <a:lstStyle/>
          <a:p>
            <a:pPr algn="l">
              <a:lnSpc>
                <a:spcPct val="130000"/>
              </a:lnSpc>
            </a:pPr>
            <a:r>
              <a:rPr lang="en-US" sz="2175" b="1" noProof="1">
                <a:solidFill>
                  <a:srgbClr val="183447"/>
                </a:solidFill>
                <a:latin typeface="Arial"/>
                <a:ea typeface="Arial"/>
              </a:rPr>
              <a:t>Models score well on color and texture,</a:t>
            </a:r>
            <a:endParaRPr lang="en-US" sz="2175" noProof="1"/>
          </a:p>
          <a:p>
            <a:pPr algn="l">
              <a:lnSpc>
                <a:spcPct val="130000"/>
              </a:lnSpc>
            </a:pPr>
            <a:r>
              <a:rPr lang="en-US" sz="2175" b="1" noProof="1">
                <a:solidFill>
                  <a:srgbClr val="183447"/>
                </a:solidFill>
                <a:latin typeface="Arial"/>
                <a:ea typeface="Arial"/>
              </a:rPr>
              <a:t>but </a:t>
            </a:r>
            <a:r>
              <a:rPr lang="en-US" sz="2175" b="1" noProof="1">
                <a:solidFill>
                  <a:srgbClr val="C0504D"/>
                </a:solidFill>
                <a:latin typeface="Arial"/>
                <a:ea typeface="Arial"/>
              </a:rPr>
              <a:t>spatial relations are the weakest</a:t>
            </a:r>
            <a:endParaRPr lang="en-US" sz="2175" noProof="1"/>
          </a:p>
          <a:p>
            <a:pPr algn="l">
              <a:lnSpc>
                <a:spcPct val="130000"/>
              </a:lnSpc>
            </a:pPr>
            <a:r>
              <a:rPr lang="en-US" sz="2175" b="1" noProof="1">
                <a:solidFill>
                  <a:srgbClr val="C0504D"/>
                </a:solidFill>
                <a:latin typeface="Arial"/>
                <a:ea typeface="Arial"/>
              </a:rPr>
              <a:t>category</a:t>
            </a:r>
            <a:r>
              <a:rPr lang="en-US" sz="2175" b="1" noProof="1">
                <a:solidFill>
                  <a:srgbClr val="183447"/>
                </a:solidFill>
                <a:latin typeface="Arial"/>
                <a:ea typeface="Arial"/>
              </a:rPr>
              <a:t> across almost all tested</a:t>
            </a:r>
            <a:endParaRPr lang="en-US" sz="2175" noProof="1"/>
          </a:p>
        </p:txBody>
      </p:sp>
      <p:sp>
        <p:nvSpPr>
          <p:cNvPr id="16" name="source"/>
          <p:cNvSpPr txBox="1"/>
          <p:nvPr/>
        </p:nvSpPr>
        <p:spPr>
          <a:xfrm>
            <a:off x="628650" y="6334760"/>
            <a:ext cx="10001250" cy="238760"/>
          </a:xfrm>
          <a:prstGeom prst="rect">
            <a:avLst/>
          </a:prstGeom>
          <a:noFill/>
          <a:ln>
            <a:noFill/>
          </a:ln>
        </p:spPr>
        <p:txBody>
          <a:bodyPr wrap="square" lIns="0" tIns="0" rIns="0" bIns="0" rtlCol="0" anchor="t"/>
          <a:lstStyle/>
          <a:p>
            <a:pPr algn="l">
              <a:lnSpc>
                <a:spcPct val="120000"/>
              </a:lnSpc>
            </a:pPr>
            <a:r>
              <a:rPr lang="en-US" sz="1200" noProof="1">
                <a:solidFill>
                  <a:srgbClr val="536875"/>
                </a:solidFill>
                <a:latin typeface="Arial"/>
                <a:ea typeface="Arial"/>
              </a:rPr>
              <a:t>Source: Huang et al., “T2I-CompBench: A Comprehensive Benchmark for Open-world Compositional Text-to-image Generation”, NeurIPS 2023. Figure: Fig. 2(b) of the paper.</a:t>
            </a:r>
            <a:endParaRPr lang="en-US" sz="1200" noProof="1"/>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628650" y="457200"/>
            <a:ext cx="10839450" cy="609600"/>
          </a:xfrm>
          <a:prstGeom prst="rect">
            <a:avLst/>
          </a:prstGeom>
          <a:noFill/>
          <a:ln>
            <a:noFill/>
          </a:ln>
        </p:spPr>
        <p:txBody>
          <a:bodyPr wrap="square" lIns="0" tIns="0" rIns="0" bIns="0" rtlCol="0" anchor="t"/>
          <a:lstStyle/>
          <a:p>
            <a:pPr algn="l">
              <a:lnSpc>
                <a:spcPct val="120000"/>
              </a:lnSpc>
            </a:pPr>
            <a:r>
              <a:rPr lang="en-US" sz="3300" b="1" noProof="1">
                <a:solidFill>
                  <a:srgbClr val="183447"/>
                </a:solidFill>
                <a:latin typeface="Arial"/>
                <a:ea typeface="Arial"/>
              </a:rPr>
              <a:t>Literature review: plan first, then draw</a:t>
            </a:r>
            <a:endParaRPr lang="en-US" sz="3300" noProof="1"/>
          </a:p>
        </p:txBody>
      </p:sp>
      <p:sp>
        <p:nvSpPr>
          <p:cNvPr id="3" name="pageno"/>
          <p:cNvSpPr txBox="1"/>
          <p:nvPr/>
        </p:nvSpPr>
        <p:spPr>
          <a:xfrm>
            <a:off x="10858500" y="6334760"/>
            <a:ext cx="685800" cy="228600"/>
          </a:xfrm>
          <a:prstGeom prst="rect">
            <a:avLst/>
          </a:prstGeom>
          <a:noFill/>
          <a:ln>
            <a:noFill/>
          </a:ln>
        </p:spPr>
        <p:txBody>
          <a:bodyPr wrap="square" lIns="0" tIns="0" rIns="0" bIns="0" rtlCol="0" anchor="t"/>
          <a:lstStyle/>
          <a:p>
            <a:pPr algn="l">
              <a:lnSpc>
                <a:spcPct val="120000"/>
              </a:lnSpc>
            </a:pPr>
            <a:r>
              <a:rPr lang="en-US" sz="1350" noProof="1">
                <a:solidFill>
                  <a:srgbClr val="536875"/>
                </a:solidFill>
                <a:latin typeface="Arial"/>
                <a:ea typeface="Arial"/>
              </a:rPr>
              <a:t>7 / 7</a:t>
            </a:r>
            <a:endParaRPr lang="en-US" sz="1350" noProof="1"/>
          </a:p>
        </p:txBody>
      </p:sp>
      <p:sp>
        <p:nvSpPr>
          <p:cNvPr id="4" name="card1-bg"/>
          <p:cNvSpPr/>
          <p:nvPr/>
        </p:nvSpPr>
        <p:spPr>
          <a:xfrm>
            <a:off x="628650" y="1371600"/>
            <a:ext cx="5276850" cy="3581400"/>
          </a:xfrm>
          <a:prstGeom prst="roundRect">
            <a:avLst>
              <a:gd name="adj" fmla="val 6000"/>
            </a:avLst>
          </a:prstGeom>
          <a:solidFill>
            <a:srgbClr val="F2F7F7"/>
          </a:solidFill>
          <a:ln w="12700">
            <a:solidFill>
              <a:srgbClr val="D8E4E4"/>
            </a:solidFill>
          </a:ln>
        </p:spPr>
        <p:txBody>
          <a:bodyPr/>
          <a:lstStyle/>
          <a:p>
            <a:endParaRPr lang="en-US"/>
          </a:p>
        </p:txBody>
      </p:sp>
      <p:sp>
        <p:nvSpPr>
          <p:cNvPr id="5" name="card1-label"/>
          <p:cNvSpPr txBox="1"/>
          <p:nvPr/>
        </p:nvSpPr>
        <p:spPr>
          <a:xfrm>
            <a:off x="933450" y="1600200"/>
            <a:ext cx="4667250" cy="279400"/>
          </a:xfrm>
          <a:prstGeom prst="rect">
            <a:avLst/>
          </a:prstGeom>
          <a:noFill/>
          <a:ln>
            <a:noFill/>
          </a:ln>
        </p:spPr>
        <p:txBody>
          <a:bodyPr wrap="none" lIns="0" tIns="0" rIns="0" bIns="0" rtlCol="0" anchor="t"/>
          <a:lstStyle/>
          <a:p>
            <a:pPr algn="l">
              <a:lnSpc>
                <a:spcPct val="120000"/>
              </a:lnSpc>
            </a:pPr>
            <a:r>
              <a:rPr lang="en-US" sz="1425" b="1" kern="0" spc="150" noProof="1">
                <a:solidFill>
                  <a:srgbClr val="117F85"/>
                </a:solidFill>
                <a:latin typeface="Arial"/>
                <a:ea typeface="Arial"/>
              </a:rPr>
              <a:t>PAPER 2 · LAYOUT GROUNDING</a:t>
            </a:r>
            <a:endParaRPr lang="en-US" sz="1425" noProof="1"/>
          </a:p>
        </p:txBody>
      </p:sp>
      <p:sp>
        <p:nvSpPr>
          <p:cNvPr id="6" name="card1-title"/>
          <p:cNvSpPr txBox="1"/>
          <p:nvPr/>
        </p:nvSpPr>
        <p:spPr>
          <a:xfrm>
            <a:off x="933450" y="1943100"/>
            <a:ext cx="4667250" cy="419100"/>
          </a:xfrm>
          <a:prstGeom prst="rect">
            <a:avLst/>
          </a:prstGeom>
          <a:noFill/>
          <a:ln>
            <a:noFill/>
          </a:ln>
        </p:spPr>
        <p:txBody>
          <a:bodyPr wrap="none" lIns="0" tIns="0" rIns="0" bIns="0" rtlCol="0" anchor="t"/>
          <a:lstStyle/>
          <a:p>
            <a:pPr algn="l">
              <a:lnSpc>
                <a:spcPct val="120000"/>
              </a:lnSpc>
            </a:pPr>
            <a:r>
              <a:rPr lang="en-US" sz="2400" b="1" noProof="1">
                <a:solidFill>
                  <a:srgbClr val="117F85"/>
                </a:solidFill>
                <a:latin typeface="Arial"/>
                <a:ea typeface="Arial"/>
              </a:rPr>
              <a:t>LLM-grounded Diffusion</a:t>
            </a:r>
            <a:endParaRPr lang="en-US" sz="2400" noProof="1"/>
          </a:p>
        </p:txBody>
      </p:sp>
      <p:sp>
        <p:nvSpPr>
          <p:cNvPr id="7" name="card1-venue"/>
          <p:cNvSpPr txBox="1"/>
          <p:nvPr/>
        </p:nvSpPr>
        <p:spPr>
          <a:xfrm>
            <a:off x="933450" y="2419350"/>
            <a:ext cx="4667250" cy="304800"/>
          </a:xfrm>
          <a:prstGeom prst="rect">
            <a:avLst/>
          </a:prstGeom>
          <a:noFill/>
          <a:ln>
            <a:noFill/>
          </a:ln>
        </p:spPr>
        <p:txBody>
          <a:bodyPr wrap="square" lIns="0" tIns="0" rIns="0" bIns="0" rtlCol="0" anchor="t"/>
          <a:lstStyle/>
          <a:p>
            <a:pPr algn="l">
              <a:lnSpc>
                <a:spcPct val="120000"/>
              </a:lnSpc>
            </a:pPr>
            <a:r>
              <a:rPr lang="en-US" sz="1725" b="1" noProof="1">
                <a:solidFill>
                  <a:srgbClr val="183447"/>
                </a:solidFill>
                <a:latin typeface="Arial"/>
                <a:ea typeface="Arial"/>
              </a:rPr>
              <a:t>Lian et al., NeurIPS 2023</a:t>
            </a:r>
            <a:endParaRPr lang="en-US" sz="1725" noProof="1"/>
          </a:p>
        </p:txBody>
      </p:sp>
      <p:sp>
        <p:nvSpPr>
          <p:cNvPr id="8" name="card1-desc"/>
          <p:cNvSpPr txBox="1"/>
          <p:nvPr/>
        </p:nvSpPr>
        <p:spPr>
          <a:xfrm>
            <a:off x="933450" y="2857500"/>
            <a:ext cx="4667250" cy="1257300"/>
          </a:xfrm>
          <a:prstGeom prst="rect">
            <a:avLst/>
          </a:prstGeom>
          <a:noFill/>
          <a:ln>
            <a:noFill/>
          </a:ln>
        </p:spPr>
        <p:txBody>
          <a:bodyPr wrap="square" lIns="0" tIns="0" rIns="0" bIns="0" rtlCol="0" anchor="t"/>
          <a:lstStyle/>
          <a:p>
            <a:pPr algn="l">
              <a:lnSpc>
                <a:spcPct val="135000"/>
              </a:lnSpc>
            </a:pPr>
            <a:r>
              <a:rPr lang="en-US" sz="1650" noProof="1">
                <a:solidFill>
                  <a:srgbClr val="536875"/>
                </a:solidFill>
                <a:latin typeface="Arial"/>
                <a:ea typeface="Arial"/>
              </a:rPr>
              <a:t>An LLM writes a scene layout with boxes and captions; a grounded diffusion model then paints each region.</a:t>
            </a:r>
            <a:endParaRPr lang="en-US" sz="1650" noProof="1"/>
          </a:p>
        </p:txBody>
      </p:sp>
      <p:sp>
        <p:nvSpPr>
          <p:cNvPr id="9" name="card1-limit"/>
          <p:cNvSpPr txBox="1"/>
          <p:nvPr/>
        </p:nvSpPr>
        <p:spPr>
          <a:xfrm>
            <a:off x="933450" y="4248150"/>
            <a:ext cx="4667250" cy="533400"/>
          </a:xfrm>
          <a:prstGeom prst="rect">
            <a:avLst/>
          </a:prstGeom>
          <a:noFill/>
          <a:ln>
            <a:noFill/>
          </a:ln>
        </p:spPr>
        <p:txBody>
          <a:bodyPr wrap="square" lIns="0" tIns="0" rIns="0" bIns="0" rtlCol="0" anchor="t"/>
          <a:lstStyle/>
          <a:p>
            <a:pPr algn="l">
              <a:lnSpc>
                <a:spcPct val="125000"/>
              </a:lnSpc>
            </a:pPr>
            <a:r>
              <a:rPr lang="en-US" sz="1650" b="1" noProof="1">
                <a:solidFill>
                  <a:srgbClr val="C0504D"/>
                </a:solidFill>
                <a:latin typeface="Arial"/>
                <a:ea typeface="Arial"/>
              </a:rPr>
              <a:t>Limit:</a:t>
            </a:r>
            <a:r>
              <a:rPr lang="en-US" sz="1650" b="1" noProof="1">
                <a:solidFill>
                  <a:srgbClr val="183447"/>
                </a:solidFill>
                <a:latin typeface="Arial"/>
                <a:ea typeface="Arial"/>
              </a:rPr>
              <a:t> the plan is written once —</a:t>
            </a:r>
            <a:endParaRPr lang="en-US" sz="1650" noProof="1"/>
          </a:p>
          <a:p>
            <a:pPr algn="l">
              <a:lnSpc>
                <a:spcPct val="125000"/>
              </a:lnSpc>
            </a:pPr>
            <a:r>
              <a:rPr lang="en-US" sz="1650" b="1" noProof="1">
                <a:solidFill>
                  <a:srgbClr val="183447"/>
                </a:solidFill>
                <a:latin typeface="Arial"/>
                <a:ea typeface="Arial"/>
              </a:rPr>
              <a:t>no check, no repair.</a:t>
            </a:r>
            <a:endParaRPr lang="en-US" sz="1650" noProof="1"/>
          </a:p>
        </p:txBody>
      </p:sp>
      <p:sp>
        <p:nvSpPr>
          <p:cNvPr id="10" name="card2-bg"/>
          <p:cNvSpPr/>
          <p:nvPr/>
        </p:nvSpPr>
        <p:spPr>
          <a:xfrm>
            <a:off x="6267450" y="1371600"/>
            <a:ext cx="5276850" cy="3581400"/>
          </a:xfrm>
          <a:prstGeom prst="roundRect">
            <a:avLst>
              <a:gd name="adj" fmla="val 6000"/>
            </a:avLst>
          </a:prstGeom>
          <a:solidFill>
            <a:srgbClr val="F2F7F7"/>
          </a:solidFill>
          <a:ln w="12700">
            <a:solidFill>
              <a:srgbClr val="D8E4E4"/>
            </a:solidFill>
          </a:ln>
        </p:spPr>
        <p:txBody>
          <a:bodyPr/>
          <a:lstStyle/>
          <a:p>
            <a:endParaRPr lang="en-US"/>
          </a:p>
        </p:txBody>
      </p:sp>
      <p:sp>
        <p:nvSpPr>
          <p:cNvPr id="11" name="card2-label"/>
          <p:cNvSpPr txBox="1"/>
          <p:nvPr/>
        </p:nvSpPr>
        <p:spPr>
          <a:xfrm>
            <a:off x="6572250" y="1600200"/>
            <a:ext cx="4667250" cy="279400"/>
          </a:xfrm>
          <a:prstGeom prst="rect">
            <a:avLst/>
          </a:prstGeom>
          <a:noFill/>
          <a:ln>
            <a:noFill/>
          </a:ln>
        </p:spPr>
        <p:txBody>
          <a:bodyPr wrap="none" lIns="0" tIns="0" rIns="0" bIns="0" rtlCol="0" anchor="t"/>
          <a:lstStyle/>
          <a:p>
            <a:pPr algn="l">
              <a:lnSpc>
                <a:spcPct val="120000"/>
              </a:lnSpc>
            </a:pPr>
            <a:r>
              <a:rPr lang="en-US" sz="1425" b="1" kern="0" spc="150" noProof="1">
                <a:solidFill>
                  <a:srgbClr val="117F85"/>
                </a:solidFill>
                <a:latin typeface="Arial"/>
                <a:ea typeface="Arial"/>
              </a:rPr>
              <a:t>PAPER 3 · MULTI-AGENT PLANNING</a:t>
            </a:r>
            <a:endParaRPr lang="en-US" sz="1425" noProof="1"/>
          </a:p>
        </p:txBody>
      </p:sp>
      <p:sp>
        <p:nvSpPr>
          <p:cNvPr id="12" name="card2-title"/>
          <p:cNvSpPr txBox="1"/>
          <p:nvPr/>
        </p:nvSpPr>
        <p:spPr>
          <a:xfrm>
            <a:off x="6572250" y="1943100"/>
            <a:ext cx="4667250" cy="419100"/>
          </a:xfrm>
          <a:prstGeom prst="rect">
            <a:avLst/>
          </a:prstGeom>
          <a:noFill/>
          <a:ln>
            <a:noFill/>
          </a:ln>
        </p:spPr>
        <p:txBody>
          <a:bodyPr wrap="none" lIns="0" tIns="0" rIns="0" bIns="0" rtlCol="0" anchor="t"/>
          <a:lstStyle/>
          <a:p>
            <a:pPr algn="l">
              <a:lnSpc>
                <a:spcPct val="120000"/>
              </a:lnSpc>
            </a:pPr>
            <a:r>
              <a:rPr lang="en-US" sz="2400" b="1" noProof="1">
                <a:solidFill>
                  <a:srgbClr val="117F85"/>
                </a:solidFill>
                <a:latin typeface="Arial"/>
                <a:ea typeface="Arial"/>
              </a:rPr>
              <a:t>RPG: Recaption, Plan, Generate</a:t>
            </a:r>
            <a:endParaRPr lang="en-US" sz="2400" noProof="1"/>
          </a:p>
        </p:txBody>
      </p:sp>
      <p:sp>
        <p:nvSpPr>
          <p:cNvPr id="13" name="card2-venue"/>
          <p:cNvSpPr txBox="1"/>
          <p:nvPr/>
        </p:nvSpPr>
        <p:spPr>
          <a:xfrm>
            <a:off x="6572250" y="2419350"/>
            <a:ext cx="4667250" cy="304800"/>
          </a:xfrm>
          <a:prstGeom prst="rect">
            <a:avLst/>
          </a:prstGeom>
          <a:noFill/>
          <a:ln>
            <a:noFill/>
          </a:ln>
        </p:spPr>
        <p:txBody>
          <a:bodyPr wrap="square" lIns="0" tIns="0" rIns="0" bIns="0" rtlCol="0" anchor="t"/>
          <a:lstStyle/>
          <a:p>
            <a:pPr algn="l">
              <a:lnSpc>
                <a:spcPct val="120000"/>
              </a:lnSpc>
            </a:pPr>
            <a:r>
              <a:rPr lang="en-US" sz="1725" b="1" noProof="1">
                <a:solidFill>
                  <a:srgbClr val="183447"/>
                </a:solidFill>
                <a:latin typeface="Arial"/>
                <a:ea typeface="Arial"/>
              </a:rPr>
              <a:t>Yang et al., ICML 2024</a:t>
            </a:r>
            <a:endParaRPr lang="en-US" sz="1725" noProof="1"/>
          </a:p>
        </p:txBody>
      </p:sp>
      <p:sp>
        <p:nvSpPr>
          <p:cNvPr id="14" name="card2-desc"/>
          <p:cNvSpPr txBox="1"/>
          <p:nvPr/>
        </p:nvSpPr>
        <p:spPr>
          <a:xfrm>
            <a:off x="6572250" y="2857500"/>
            <a:ext cx="4667250" cy="1257300"/>
          </a:xfrm>
          <a:prstGeom prst="rect">
            <a:avLst/>
          </a:prstGeom>
          <a:noFill/>
          <a:ln>
            <a:noFill/>
          </a:ln>
        </p:spPr>
        <p:txBody>
          <a:bodyPr wrap="square" lIns="0" tIns="0" rIns="0" bIns="0" rtlCol="0" anchor="t"/>
          <a:lstStyle/>
          <a:p>
            <a:pPr algn="l">
              <a:lnSpc>
                <a:spcPct val="135000"/>
              </a:lnSpc>
            </a:pPr>
            <a:r>
              <a:rPr lang="en-US" sz="1650" noProof="1">
                <a:solidFill>
                  <a:srgbClr val="536875"/>
                </a:solidFill>
                <a:latin typeface="Arial"/>
                <a:ea typeface="Arial"/>
              </a:rPr>
              <a:t>Multimodal LLM agents recaption the prompt, split it into sub-regions, and generate the image region by region.</a:t>
            </a:r>
            <a:endParaRPr lang="en-US" sz="1650" noProof="1"/>
          </a:p>
        </p:txBody>
      </p:sp>
      <p:sp>
        <p:nvSpPr>
          <p:cNvPr id="15" name="card2-limit"/>
          <p:cNvSpPr txBox="1"/>
          <p:nvPr/>
        </p:nvSpPr>
        <p:spPr>
          <a:xfrm>
            <a:off x="6572250" y="4248150"/>
            <a:ext cx="4667250" cy="533400"/>
          </a:xfrm>
          <a:prstGeom prst="rect">
            <a:avLst/>
          </a:prstGeom>
          <a:noFill/>
          <a:ln>
            <a:noFill/>
          </a:ln>
        </p:spPr>
        <p:txBody>
          <a:bodyPr wrap="square" lIns="0" tIns="0" rIns="0" bIns="0" rtlCol="0" anchor="t"/>
          <a:lstStyle/>
          <a:p>
            <a:pPr algn="l">
              <a:lnSpc>
                <a:spcPct val="125000"/>
              </a:lnSpc>
            </a:pPr>
            <a:r>
              <a:rPr lang="en-US" sz="1650" b="1" noProof="1">
                <a:solidFill>
                  <a:srgbClr val="C0504D"/>
                </a:solidFill>
                <a:latin typeface="Arial"/>
                <a:ea typeface="Arial"/>
              </a:rPr>
              <a:t>Limit:</a:t>
            </a:r>
            <a:r>
              <a:rPr lang="en-US" sz="1650" b="1" noProof="1">
                <a:solidFill>
                  <a:srgbClr val="183447"/>
                </a:solidFill>
                <a:latin typeface="Arial"/>
                <a:ea typeface="Arial"/>
              </a:rPr>
              <a:t> roles are fixed and</a:t>
            </a:r>
            <a:endParaRPr lang="en-US" sz="1650" noProof="1"/>
          </a:p>
          <a:p>
            <a:pPr algn="l">
              <a:lnSpc>
                <a:spcPct val="125000"/>
              </a:lnSpc>
            </a:pPr>
            <a:r>
              <a:rPr lang="en-US" sz="1650" b="1" noProof="1">
                <a:solidFill>
                  <a:srgbClr val="183447"/>
                </a:solidFill>
                <a:latin typeface="Arial"/>
                <a:ea typeface="Arial"/>
              </a:rPr>
              <a:t>feedback flows one way.</a:t>
            </a:r>
            <a:endParaRPr lang="en-US" sz="1650" noProof="1"/>
          </a:p>
        </p:txBody>
      </p:sp>
      <p:sp>
        <p:nvSpPr>
          <p:cNvPr id="16" name="gap-label"/>
          <p:cNvSpPr txBox="1"/>
          <p:nvPr/>
        </p:nvSpPr>
        <p:spPr>
          <a:xfrm>
            <a:off x="628650" y="5257800"/>
            <a:ext cx="10915650" cy="279400"/>
          </a:xfrm>
          <a:prstGeom prst="rect">
            <a:avLst/>
          </a:prstGeom>
          <a:noFill/>
          <a:ln>
            <a:noFill/>
          </a:ln>
        </p:spPr>
        <p:txBody>
          <a:bodyPr wrap="none" lIns="0" tIns="0" rIns="0" bIns="0" rtlCol="0" anchor="t"/>
          <a:lstStyle/>
          <a:p>
            <a:pPr algn="l">
              <a:lnSpc>
                <a:spcPct val="120000"/>
              </a:lnSpc>
            </a:pPr>
            <a:r>
              <a:rPr lang="en-US" sz="1500" b="1" kern="0" spc="150" noProof="1">
                <a:solidFill>
                  <a:srgbClr val="117F85"/>
                </a:solidFill>
                <a:latin typeface="Arial"/>
                <a:ea typeface="Arial"/>
              </a:rPr>
              <a:t>GAP WE ADDRESS</a:t>
            </a:r>
            <a:endParaRPr lang="en-US" sz="1500" noProof="1"/>
          </a:p>
        </p:txBody>
      </p:sp>
      <p:sp>
        <p:nvSpPr>
          <p:cNvPr id="17" name="gap-text"/>
          <p:cNvSpPr txBox="1"/>
          <p:nvPr/>
        </p:nvSpPr>
        <p:spPr>
          <a:xfrm>
            <a:off x="628650" y="5600700"/>
            <a:ext cx="10915650" cy="609600"/>
          </a:xfrm>
          <a:prstGeom prst="rect">
            <a:avLst/>
          </a:prstGeom>
          <a:noFill/>
          <a:ln>
            <a:noFill/>
          </a:ln>
        </p:spPr>
        <p:txBody>
          <a:bodyPr wrap="square" lIns="0" tIns="0" rIns="0" bIns="0" rtlCol="0" anchor="t"/>
          <a:lstStyle/>
          <a:p>
            <a:pPr algn="l">
              <a:lnSpc>
                <a:spcPct val="130000"/>
              </a:lnSpc>
            </a:pPr>
            <a:r>
              <a:rPr lang="en-US" sz="1875" b="1" noProof="1">
                <a:solidFill>
                  <a:srgbClr val="183447"/>
                </a:solidFill>
                <a:latin typeface="Arial"/>
                <a:ea typeface="Arial"/>
              </a:rPr>
              <a:t>Both lines plan without verification. Our system adds an evaluator and a conductor</a:t>
            </a:r>
            <a:endParaRPr lang="en-US" sz="1875" noProof="1"/>
          </a:p>
          <a:p>
            <a:pPr algn="l">
              <a:lnSpc>
                <a:spcPct val="130000"/>
              </a:lnSpc>
            </a:pPr>
            <a:r>
              <a:rPr lang="en-US" sz="1875" b="1" noProof="1">
                <a:solidFill>
                  <a:srgbClr val="183447"/>
                </a:solidFill>
                <a:latin typeface="Arial"/>
                <a:ea typeface="Arial"/>
              </a:rPr>
              <a:t>that traces failures back to the agents — the loop shown on the method pages.</a:t>
            </a:r>
            <a:endParaRPr lang="en-US" sz="1875" noProof="1"/>
          </a:p>
        </p:txBody>
      </p:sp>
      <p:sp>
        <p:nvSpPr>
          <p:cNvPr id="18" name="source"/>
          <p:cNvSpPr txBox="1"/>
          <p:nvPr/>
        </p:nvSpPr>
        <p:spPr>
          <a:xfrm>
            <a:off x="628650" y="6334760"/>
            <a:ext cx="10001250" cy="238760"/>
          </a:xfrm>
          <a:prstGeom prst="rect">
            <a:avLst/>
          </a:prstGeom>
          <a:noFill/>
          <a:ln>
            <a:noFill/>
          </a:ln>
        </p:spPr>
        <p:txBody>
          <a:bodyPr wrap="square" lIns="0" tIns="0" rIns="0" bIns="0" rtlCol="0" anchor="t"/>
          <a:lstStyle/>
          <a:p>
            <a:pPr algn="l">
              <a:lnSpc>
                <a:spcPct val="120000"/>
              </a:lnSpc>
            </a:pPr>
            <a:r>
              <a:rPr lang="en-US" sz="1200" noProof="1">
                <a:solidFill>
                  <a:srgbClr val="536875"/>
                </a:solidFill>
                <a:latin typeface="Arial"/>
                <a:ea typeface="Arial"/>
              </a:rPr>
              <a:t>Sources: Lian et al., “LLM-grounded Diffusion”, NeurIPS 2023 · Yang et al., “Mastering Text-to-Image Diffusion: Recaptioning, Planning, and Generating with Multimodal LLMs”, ICML 2024.</a:t>
            </a:r>
            <a:endParaRPr lang="en-US" sz="1200" noProof="1"/>
          </a:p>
        </p:txBody>
      </p:sp>
    </p:spTree>
  </p:cSld>
  <p:clrMapOvr>
    <a:masterClrMapping/>
  </p:clrMapOvr>
</p:sld>
</file>

<file path=ppt/theme/theme1.xml><?xml version="1.0" encoding="utf-8"?>
<a:theme xmlns:a="http://schemas.openxmlformats.org/drawingml/2006/main" name="PPTD">
  <a:themeElements>
    <a:clrScheme name="PPTD">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PPTD">
      <a:majorFont>
        <a:latin typeface="MiSans"/>
        <a:ea typeface="MiSans"/>
        <a:cs typeface="MiSans"/>
      </a:majorFont>
      <a:minorFont>
        <a:latin typeface="MiSans"/>
        <a:ea typeface="MiSans"/>
        <a:cs typeface="MiSans"/>
      </a:minorFont>
    </a:fontScheme>
    <a:fmtScheme name="PPTD">
      <a:fillStyleLst>
        <a:solidFill>
          <a:schemeClr val="accent1"/>
        </a:solidFill>
        <a:solidFill>
          <a:schemeClr val="accent2"/>
        </a:solidFill>
        <a:solidFill>
          <a:schemeClr val="accent3"/>
        </a:solidFill>
      </a:fillStyleLst>
      <a:lnStyleLst>
        <a:ln w="6350" cap="flat" cmpd="sng" algn="ctr">
          <a:solidFill>
            <a:schemeClr val="accent1"/>
          </a:solidFill>
          <a:prstDash val="solid"/>
        </a:ln>
        <a:ln w="12700" cap="flat" cmpd="sng" algn="ctr">
          <a:solidFill>
            <a:schemeClr val="accent1"/>
          </a:solidFill>
          <a:prstDash val="solid"/>
        </a:ln>
        <a:ln w="19050" cap="flat" cmpd="sng" algn="ctr">
          <a:solidFill>
            <a:schemeClr val="accent1"/>
          </a:solidFill>
          <a:prstDash val="solid"/>
        </a:ln>
      </a:lnStyleLst>
      <a:effectStyleLst>
        <a:effectStyle>
          <a:effectLst/>
        </a:effectStyle>
        <a:effectStyle>
          <a:effectLst/>
        </a:effectStyle>
        <a:effectStyle>
          <a:effectLst/>
        </a:effectStyle>
      </a:effectStyleLst>
      <a:bgFillStyleLst>
        <a:solidFill>
          <a:schemeClr val="lt1"/>
        </a:solidFill>
        <a:solidFill>
          <a:schemeClr val="lt2"/>
        </a:solidFill>
        <a:solidFill>
          <a:schemeClr val="dk1"/>
        </a:soli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570</Words>
  <Application>Microsoft Macintosh PowerPoint</Application>
  <PresentationFormat>Widescreen</PresentationFormat>
  <Paragraphs>37</Paragraphs>
  <Slides>2</Slides>
  <Notes>2</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2</vt:i4>
      </vt:variant>
    </vt:vector>
  </HeadingPairs>
  <TitlesOfParts>
    <vt:vector size="4" baseType="lpstr">
      <vt:lpstr>Arial</vt:lpstr>
      <vt:lpstr>PPTD</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cp:lastModifiedBy>Jinjie Wei</cp:lastModifiedBy>
  <cp:revision>2</cp:revision>
  <dcterms:modified xsi:type="dcterms:W3CDTF">2026-09-28T06:39:47Z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
  </property>
</Properties>
</file>