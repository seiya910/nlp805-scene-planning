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73042"/>
  </p:normalViewPr>
  <p:slideViewPr>
    <p:cSldViewPr snapToGrid="0">
      <p:cViewPr varScale="1">
        <p:scale>
          <a:sx n="97" d="100"/>
          <a:sy n="97" d="100"/>
        </p:scale>
        <p:origin x="1352"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Hello, I am Jinjie Wei. My topic is text-to-image generation with AI agents. The aim is to keep objects and their relations correct in the image.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Text2Image models can make clear and realistic pictures. But a good-looking picture may still miss part of the requirement in prompt. Here, all three dogs should move right,but the yellow dog faces left. I focus on how well images match the objects and relations described in the 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t>
            </a:r>
            <a:r>
              <a:rPr lang="en-US"/>
              <a:t>an</a:t>
            </a:r>
            <a:r>
              <a:rPr lang="zh-CN" altLang="en-US"/>
              <a:t> </a:t>
            </a:r>
            <a:r>
              <a:t>example from GPT-Image. The text asks for a yellow bowl of lemons on the windowsill, beside the plants. The picture puts the bowl on the kitchen counter. The bowl is in the wrong place. We want the image to keep all these details together</a:t>
            </a:r>
            <a:r>
              <a:rPr lang="zh-CN" altLang="en-US"/>
              <a:t>。</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specialist agents handle objects, background, actions, positions, boxes, and appearance. A coordinator chooses the next agent. Each agent reads the prompt and earlier results, then adds its output to a shared plan.</a:t>
            </a:r>
          </a:p>
          <a:p>
            <a:endParaRPr/>
          </a:p>
          <a:p>
            <a:r>
              <a:t>In the bar example, one agent finds the bartender, drinks, and counter. Others find “prepares drinks” and “drinks on the counter.” The layout agent sets their boxes. The checker uses the prompt and feedback from a program to check the whole plan.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same idea with an image example. The object agent finds the bartender, drinks, and counter. The action agent finds “prepares a drink.” The spatial agent finds “on the counter” and “in a line.” The checker compares the plan with the text. If a detail is wrong, the right agent updates it. The image model uses the checked descriptions and positions to build the scene. This generated picture shows the target scene.</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plan to use T2I-CompBench, with six groups of tasks. Each group has three hundred prompts, with ten images per prompt. We plan to use BLIP-VQA for object features, UniDet for positions, and CLIP-Score for other relations. Complex prompts use a combined score. These scores measure the full system. The paper also compares images with and without agent planning.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xt-to-Image">
            <a:extLst>
              <a:ext uri="{FF2B5EF4-FFF2-40B4-BE49-F238E27FC236}">
                <a16:creationId xmlns:a16="http://schemas.microsoft.com/office/drawing/2014/main" id="{60E6254C-36C1-48E3-9A4C-07D0A4E43BC0}"/>
              </a:ext>
            </a:extLst>
          </p:cNvPr>
          <p:cNvSpPr>
            <a:spLocks noGrp="1"/>
          </p:cNvSpPr>
          <p:nvPr/>
        </p:nvSpPr>
        <p:spPr>
          <a:xfrm>
            <a:off x="628650" y="1581150"/>
            <a:ext cx="5905500" cy="809625"/>
          </a:xfrm>
          <a:prstGeom prst="rect">
            <a:avLst/>
          </a:prstGeom>
          <a:noFill/>
          <a:ln w="0">
            <a:noFill/>
          </a:ln>
        </p:spPr>
        <p:txBody>
          <a:bodyPr wrap="square" lIns="0" tIns="0" rIns="0" bIns="0" anchor="t">
            <a:noAutofit/>
          </a:bodyPr>
          <a:lstStyle/>
          <a:p>
            <a:pPr>
              <a:buNone/>
              <a:defRPr sz="4800" b="1">
                <a:solidFill>
                  <a:srgbClr val="183447"/>
                </a:solidFill>
                <a:latin typeface="Arial"/>
                <a:ea typeface="Arial"/>
                <a:cs typeface="Arial"/>
              </a:defRPr>
            </a:pPr>
            <a:r>
              <a:rPr sz="4800" b="1">
                <a:solidFill>
                  <a:srgbClr val="183447"/>
                </a:solidFill>
                <a:latin typeface="Arial"/>
                <a:ea typeface="Arial"/>
                <a:cs typeface="Arial"/>
              </a:rPr>
              <a:t>Text-to-Image</a:t>
            </a:r>
          </a:p>
        </p:txBody>
      </p:sp>
      <p:sp>
        <p:nvSpPr>
          <p:cNvPr id="2" name="Generation">
            <a:extLst>
              <a:ext uri="{FF2B5EF4-FFF2-40B4-BE49-F238E27FC236}">
                <a16:creationId xmlns:a16="http://schemas.microsoft.com/office/drawing/2014/main" id="{53E38D6E-876E-4438-909A-96A94A388C4B}"/>
              </a:ext>
            </a:extLst>
          </p:cNvPr>
          <p:cNvSpPr>
            <a:spLocks noGrp="1"/>
          </p:cNvSpPr>
          <p:nvPr/>
        </p:nvSpPr>
        <p:spPr>
          <a:xfrm>
            <a:off x="628650" y="2362200"/>
            <a:ext cx="5905500" cy="809625"/>
          </a:xfrm>
          <a:prstGeom prst="rect">
            <a:avLst/>
          </a:prstGeom>
          <a:noFill/>
          <a:ln w="0">
            <a:noFill/>
          </a:ln>
        </p:spPr>
        <p:txBody>
          <a:bodyPr wrap="square" lIns="0" tIns="0" rIns="0" bIns="0" anchor="t">
            <a:noAutofit/>
          </a:bodyPr>
          <a:lstStyle/>
          <a:p>
            <a:pPr>
              <a:buNone/>
              <a:defRPr sz="4800" b="1">
                <a:solidFill>
                  <a:srgbClr val="183447"/>
                </a:solidFill>
                <a:latin typeface="Arial"/>
                <a:ea typeface="Arial"/>
                <a:cs typeface="Arial"/>
              </a:defRPr>
            </a:pPr>
            <a:r>
              <a:rPr sz="4800" b="1">
                <a:solidFill>
                  <a:srgbClr val="183447"/>
                </a:solidFill>
                <a:latin typeface="Arial"/>
                <a:ea typeface="Arial"/>
                <a:cs typeface="Arial"/>
              </a:rPr>
              <a:t>Generation</a:t>
            </a:r>
          </a:p>
        </p:txBody>
      </p:sp>
      <p:sp>
        <p:nvSpPr>
          <p:cNvPr id="3" name="with AI Agents">
            <a:extLst>
              <a:ext uri="{FF2B5EF4-FFF2-40B4-BE49-F238E27FC236}">
                <a16:creationId xmlns:a16="http://schemas.microsoft.com/office/drawing/2014/main" id="{791E3275-0C75-43AC-B104-742B6E4EED07}"/>
              </a:ext>
            </a:extLst>
          </p:cNvPr>
          <p:cNvSpPr>
            <a:spLocks noGrp="1"/>
          </p:cNvSpPr>
          <p:nvPr/>
        </p:nvSpPr>
        <p:spPr>
          <a:xfrm>
            <a:off x="628650" y="3333750"/>
            <a:ext cx="5905500" cy="609600"/>
          </a:xfrm>
          <a:prstGeom prst="rect">
            <a:avLst/>
          </a:prstGeom>
          <a:noFill/>
          <a:ln w="0">
            <a:noFill/>
          </a:ln>
        </p:spPr>
        <p:txBody>
          <a:bodyPr wrap="square" lIns="0" tIns="0" rIns="0" bIns="0" anchor="t">
            <a:noAutofit/>
          </a:bodyPr>
          <a:lstStyle/>
          <a:p>
            <a:pPr>
              <a:buNone/>
              <a:defRPr sz="3300" b="1">
                <a:solidFill>
                  <a:srgbClr val="117F85"/>
                </a:solidFill>
                <a:latin typeface="Arial"/>
                <a:ea typeface="Arial"/>
                <a:cs typeface="Arial"/>
              </a:defRPr>
            </a:pPr>
            <a:r>
              <a:rPr sz="3300" b="1">
                <a:solidFill>
                  <a:srgbClr val="117F85"/>
                </a:solidFill>
                <a:latin typeface="Arial"/>
                <a:ea typeface="Arial"/>
                <a:cs typeface="Arial"/>
              </a:rPr>
              <a:t>with AI Agents</a:t>
            </a:r>
          </a:p>
        </p:txBody>
      </p:sp>
      <p:sp>
        <p:nvSpPr>
          <p:cNvPr id="4" name="Keeping objects and their relations in one image">
            <a:extLst>
              <a:ext uri="{FF2B5EF4-FFF2-40B4-BE49-F238E27FC236}">
                <a16:creationId xmlns:a16="http://schemas.microsoft.com/office/drawing/2014/main" id="{6C99E4C3-662C-4AFA-82F4-D262D4746170}"/>
              </a:ext>
            </a:extLst>
          </p:cNvPr>
          <p:cNvSpPr>
            <a:spLocks noGrp="1"/>
          </p:cNvSpPr>
          <p:nvPr/>
        </p:nvSpPr>
        <p:spPr>
          <a:xfrm>
            <a:off x="628650" y="4238625"/>
            <a:ext cx="5810250" cy="866775"/>
          </a:xfrm>
          <a:prstGeom prst="rect">
            <a:avLst/>
          </a:prstGeom>
          <a:noFill/>
          <a:ln w="0">
            <a:noFill/>
          </a:ln>
        </p:spPr>
        <p:txBody>
          <a:bodyPr wrap="square" lIns="0" tIns="0" rIns="0" bIns="0" anchor="t">
            <a:noAutofit/>
          </a:bodyPr>
          <a:lstStyle/>
          <a:p>
            <a:pPr>
              <a:buNone/>
              <a:defRPr sz="2175" b="0">
                <a:solidFill>
                  <a:srgbClr val="536875"/>
                </a:solidFill>
                <a:latin typeface="Arial"/>
                <a:ea typeface="Arial"/>
                <a:cs typeface="Arial"/>
              </a:defRPr>
            </a:pPr>
            <a:r>
              <a:rPr sz="2175" b="0">
                <a:solidFill>
                  <a:srgbClr val="536875"/>
                </a:solidFill>
                <a:latin typeface="Arial"/>
                <a:ea typeface="Arial"/>
                <a:cs typeface="Arial"/>
              </a:rPr>
              <a:t>Keeping objects and their</a:t>
            </a:r>
          </a:p>
          <a:p>
            <a:pPr>
              <a:buNone/>
              <a:defRPr sz="2175" b="0">
                <a:solidFill>
                  <a:srgbClr val="536875"/>
                </a:solidFill>
                <a:latin typeface="Arial"/>
                <a:ea typeface="Arial"/>
                <a:cs typeface="Arial"/>
              </a:defRPr>
            </a:pPr>
            <a:r>
              <a:rPr sz="2175" b="0">
                <a:solidFill>
                  <a:srgbClr val="536875"/>
                </a:solidFill>
                <a:latin typeface="Arial"/>
                <a:ea typeface="Arial"/>
                <a:cs typeface="Arial"/>
              </a:rPr>
              <a:t>relations in one image</a:t>
            </a:r>
          </a:p>
        </p:txBody>
      </p:sp>
      <p:sp>
        <p:nvSpPr>
          <p:cNvPr id="5" name="Jinjie Wei">
            <a:extLst>
              <a:ext uri="{FF2B5EF4-FFF2-40B4-BE49-F238E27FC236}">
                <a16:creationId xmlns:a16="http://schemas.microsoft.com/office/drawing/2014/main" id="{09E6C7BB-B73B-4D61-8C32-7883940F589C}"/>
              </a:ext>
            </a:extLst>
          </p:cNvPr>
          <p:cNvSpPr>
            <a:spLocks noGrp="1"/>
          </p:cNvSpPr>
          <p:nvPr/>
        </p:nvSpPr>
        <p:spPr>
          <a:xfrm>
            <a:off x="628650" y="5638800"/>
            <a:ext cx="5810250" cy="523875"/>
          </a:xfrm>
          <a:prstGeom prst="rect">
            <a:avLst/>
          </a:prstGeom>
          <a:noFill/>
          <a:ln w="0">
            <a:noFill/>
          </a:ln>
        </p:spPr>
        <p:txBody>
          <a:bodyPr wrap="square" lIns="0" tIns="0" rIns="0" bIns="0" anchor="t">
            <a:noAutofit/>
          </a:bodyPr>
          <a:lstStyle/>
          <a:p>
            <a:pPr>
              <a:buNone/>
              <a:defRPr sz="2550" b="1">
                <a:solidFill>
                  <a:srgbClr val="183447"/>
                </a:solidFill>
                <a:latin typeface="Arial"/>
                <a:ea typeface="Arial"/>
                <a:cs typeface="Arial"/>
              </a:defRPr>
            </a:pPr>
            <a:r>
              <a:rPr sz="2550" b="1">
                <a:solidFill>
                  <a:srgbClr val="183447"/>
                </a:solidFill>
                <a:latin typeface="Arial"/>
                <a:ea typeface="Arial"/>
                <a:cs typeface="Arial"/>
              </a:rPr>
              <a:t>Jinjie Wei</a:t>
            </a:r>
          </a:p>
        </p:txBody>
      </p:sp>
      <p:pic>
        <p:nvPicPr>
          <p:cNvPr id="18" name="Picture 14"/>
          <p:cNvPicPr>
            <a:picLocks noChangeAspect="1"/>
          </p:cNvPicPr>
          <p:nvPr/>
        </p:nvPicPr>
        <p:blipFill>
          <a:blip r:embed="rId3"/>
          <a:stretch/>
        </p:blipFill>
        <p:spPr>
          <a:xfrm>
            <a:off x="7200900" y="457200"/>
            <a:ext cx="4343400" cy="2444461"/>
          </a:xfrm>
          <a:prstGeom prst="rect">
            <a:avLst/>
          </a:prstGeom>
        </p:spPr>
      </p:pic>
      <p:pic>
        <p:nvPicPr>
          <p:cNvPr id="19" name="Picture 15"/>
          <p:cNvPicPr>
            <a:picLocks noChangeAspect="1"/>
          </p:cNvPicPr>
          <p:nvPr/>
        </p:nvPicPr>
        <p:blipFill>
          <a:blip r:embed="rId4"/>
          <a:stretch/>
        </p:blipFill>
        <p:spPr>
          <a:xfrm>
            <a:off x="7200900" y="3600450"/>
            <a:ext cx="4343400" cy="2444461"/>
          </a:xfrm>
          <a:prstGeom prst="rect">
            <a:avLst/>
          </a:prstGeom>
        </p:spPr>
      </p:pic>
      <p:sp>
        <p:nvSpPr>
          <p:cNvPr id="8" name="“An orange cat sits on a teal chair beside a window.”">
            <a:extLst>
              <a:ext uri="{FF2B5EF4-FFF2-40B4-BE49-F238E27FC236}">
                <a16:creationId xmlns:a16="http://schemas.microsoft.com/office/drawing/2014/main" id="{9AB3290C-FB62-4AD2-8AAB-51C292C45F2B}"/>
              </a:ext>
            </a:extLst>
          </p:cNvPr>
          <p:cNvSpPr>
            <a:spLocks noGrp="1"/>
          </p:cNvSpPr>
          <p:nvPr/>
        </p:nvSpPr>
        <p:spPr>
          <a:xfrm>
            <a:off x="7200900" y="3028950"/>
            <a:ext cx="4343400" cy="476250"/>
          </a:xfrm>
          <a:prstGeom prst="rect">
            <a:avLst/>
          </a:prstGeom>
          <a:noFill/>
          <a:ln w="0">
            <a:noFill/>
          </a:ln>
        </p:spPr>
        <p:txBody>
          <a:bodyPr wrap="square" lIns="0" tIns="0" rIns="0" bIns="0" anchor="t">
            <a:noAutofit/>
          </a:bodyPr>
          <a:lstStyle/>
          <a:p>
            <a:pPr>
              <a:buNone/>
              <a:defRPr sz="1500" b="0">
                <a:solidFill>
                  <a:srgbClr val="536875"/>
                </a:solidFill>
                <a:latin typeface="Arial"/>
                <a:ea typeface="Arial"/>
                <a:cs typeface="Arial"/>
              </a:defRPr>
            </a:pPr>
            <a:r>
              <a:rPr sz="1500" b="0">
                <a:solidFill>
                  <a:srgbClr val="536875"/>
                </a:solidFill>
                <a:latin typeface="Arial"/>
                <a:ea typeface="Arial"/>
                <a:cs typeface="Arial"/>
              </a:rPr>
              <a:t>“An orange cat sits on a teal chair</a:t>
            </a:r>
          </a:p>
          <a:p>
            <a:pPr>
              <a:buNone/>
              <a:defRPr sz="1500" b="0">
                <a:solidFill>
                  <a:srgbClr val="536875"/>
                </a:solidFill>
                <a:latin typeface="Arial"/>
                <a:ea typeface="Arial"/>
                <a:cs typeface="Arial"/>
              </a:defRPr>
            </a:pPr>
            <a:r>
              <a:rPr sz="1500" b="0">
                <a:solidFill>
                  <a:srgbClr val="536875"/>
                </a:solidFill>
                <a:latin typeface="Arial"/>
                <a:ea typeface="Arial"/>
                <a:cs typeface="Arial"/>
              </a:rPr>
              <a:t>beside a window.”</a:t>
            </a:r>
          </a:p>
        </p:txBody>
      </p:sp>
      <p:sp>
        <p:nvSpPr>
          <p:cNvPr id="9" name="“A red bicycle by a blue wall, with a plant on its right.”">
            <a:extLst>
              <a:ext uri="{FF2B5EF4-FFF2-40B4-BE49-F238E27FC236}">
                <a16:creationId xmlns:a16="http://schemas.microsoft.com/office/drawing/2014/main" id="{6862DCFB-2702-4BE9-B88E-F670336E3FD1}"/>
              </a:ext>
            </a:extLst>
          </p:cNvPr>
          <p:cNvSpPr>
            <a:spLocks noGrp="1"/>
          </p:cNvSpPr>
          <p:nvPr/>
        </p:nvSpPr>
        <p:spPr>
          <a:xfrm>
            <a:off x="7200900" y="6172200"/>
            <a:ext cx="4343400" cy="476250"/>
          </a:xfrm>
          <a:prstGeom prst="rect">
            <a:avLst/>
          </a:prstGeom>
          <a:noFill/>
          <a:ln w="0">
            <a:noFill/>
          </a:ln>
        </p:spPr>
        <p:txBody>
          <a:bodyPr wrap="square" lIns="0" tIns="0" rIns="0" bIns="0" anchor="t">
            <a:noAutofit/>
          </a:bodyPr>
          <a:lstStyle/>
          <a:p>
            <a:pPr>
              <a:buNone/>
              <a:defRPr sz="1500" b="0">
                <a:solidFill>
                  <a:srgbClr val="536875"/>
                </a:solidFill>
                <a:latin typeface="Arial"/>
                <a:ea typeface="Arial"/>
                <a:cs typeface="Arial"/>
              </a:defRPr>
            </a:pPr>
            <a:r>
              <a:rPr sz="1500" b="0">
                <a:solidFill>
                  <a:srgbClr val="536875"/>
                </a:solidFill>
                <a:latin typeface="Arial"/>
                <a:ea typeface="Arial"/>
                <a:cs typeface="Arial"/>
              </a:rPr>
              <a:t>“A red bicycle by a blue wall,</a:t>
            </a:r>
          </a:p>
          <a:p>
            <a:pPr>
              <a:buNone/>
              <a:defRPr sz="1500" b="0">
                <a:solidFill>
                  <a:srgbClr val="536875"/>
                </a:solidFill>
                <a:latin typeface="Arial"/>
                <a:ea typeface="Arial"/>
                <a:cs typeface="Arial"/>
              </a:defRPr>
            </a:pPr>
            <a:r>
              <a:rPr sz="1500" b="0">
                <a:solidFill>
                  <a:srgbClr val="536875"/>
                </a:solidFill>
                <a:latin typeface="Arial"/>
                <a:ea typeface="Arial"/>
                <a:cs typeface="Arial"/>
              </a:rPr>
              <a:t>with a plant on its right.”</a:t>
            </a:r>
          </a:p>
        </p:txBody>
      </p:sp>
    </p:spTree>
    <p:extLst>
      <p:ext uri="{BB962C8B-B14F-4D97-AF65-F5344CB8AC3E}">
        <p14:creationId xmlns:p14="http://schemas.microsoft.com/office/powerpoint/2010/main" val="409982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31FE3B5-F782-4B24-862D-437DAD60A55C}"/>
              </a:ext>
            </a:extLst>
          </p:cNvPr>
          <p:cNvSpPr>
            <a:spLocks noGrp="1"/>
          </p:cNvSpPr>
          <p:nvPr/>
        </p:nvSpPr>
        <p:spPr>
          <a:xfrm>
            <a:off x="628650" y="457200"/>
            <a:ext cx="10858500" cy="609600"/>
          </a:xfrm>
          <a:prstGeom prst="rect">
            <a:avLst/>
          </a:prstGeom>
          <a:noFill/>
          <a:ln w="0">
            <a:noFill/>
          </a:ln>
        </p:spPr>
        <p:txBody>
          <a:bodyPr wrap="square" lIns="0" tIns="0" rIns="0" bIns="0" anchor="t">
            <a:noAutofit/>
          </a:bodyPr>
          <a:lstStyle/>
          <a:p>
            <a:pPr>
              <a:buNone/>
              <a:defRPr sz="3300" b="1">
                <a:solidFill>
                  <a:srgbClr val="183447"/>
                </a:solidFill>
                <a:latin typeface="Arial"/>
                <a:ea typeface="Arial"/>
                <a:cs typeface="Arial"/>
              </a:defRPr>
            </a:pPr>
            <a:r>
              <a:rPr sz="3300" b="1">
                <a:solidFill>
                  <a:srgbClr val="183447"/>
                </a:solidFill>
                <a:latin typeface="Arial"/>
                <a:ea typeface="Arial"/>
                <a:cs typeface="Arial"/>
              </a:rPr>
              <a:t>Motivation: spatial relations still fail</a:t>
            </a:r>
          </a:p>
        </p:txBody>
      </p:sp>
      <p:sp>
        <p:nvSpPr>
          <p:cNvPr id="2" name="Rectangle 1">
            <a:extLst>
              <a:ext uri="{FF2B5EF4-FFF2-40B4-BE49-F238E27FC236}">
                <a16:creationId xmlns:a16="http://schemas.microsoft.com/office/drawing/2014/main" id="{33EF2D4B-0F57-4420-9011-21A183412A28}"/>
              </a:ext>
            </a:extLst>
          </p:cNvPr>
          <p:cNvSpPr>
            <a:spLocks noGrp="1"/>
          </p:cNvSpPr>
          <p:nvPr/>
        </p:nvSpPr>
        <p:spPr>
          <a:xfrm>
            <a:off x="10858500" y="6334125"/>
            <a:ext cx="685800" cy="228600"/>
          </a:xfrm>
          <a:prstGeom prst="rect">
            <a:avLst/>
          </a:prstGeom>
          <a:noFill/>
          <a:ln w="0">
            <a:noFill/>
          </a:ln>
        </p:spPr>
        <p:txBody>
          <a:bodyPr wrap="square" lIns="0" tIns="0" rIns="0" bIns="0" anchor="t">
            <a:noAutofit/>
          </a:bodyPr>
          <a:lstStyle/>
          <a:p>
            <a:pPr>
              <a:buNone/>
              <a:defRPr sz="1350" b="0">
                <a:solidFill>
                  <a:srgbClr val="536875"/>
                </a:solidFill>
                <a:latin typeface="Arial"/>
                <a:ea typeface="Arial"/>
                <a:cs typeface="Arial"/>
              </a:defRPr>
            </a:pPr>
            <a:r>
              <a:rPr sz="1350" b="0">
                <a:solidFill>
                  <a:srgbClr val="536875"/>
                </a:solidFill>
                <a:latin typeface="Arial"/>
                <a:ea typeface="Arial"/>
                <a:cs typeface="Arial"/>
              </a:rPr>
              <a:t>1 / 5</a:t>
            </a:r>
          </a:p>
        </p:txBody>
      </p:sp>
      <p:sp>
        <p:nvSpPr>
          <p:cNvPr id="3" name="Rectangle 2">
            <a:extLst>
              <a:ext uri="{FF2B5EF4-FFF2-40B4-BE49-F238E27FC236}">
                <a16:creationId xmlns:a16="http://schemas.microsoft.com/office/drawing/2014/main" id="{96D1BA1F-A4AA-46D4-B9E5-8E2376705B37}"/>
              </a:ext>
            </a:extLst>
          </p:cNvPr>
          <p:cNvSpPr>
            <a:spLocks noGrp="1"/>
          </p:cNvSpPr>
          <p:nvPr/>
        </p:nvSpPr>
        <p:spPr>
          <a:xfrm>
            <a:off x="628650" y="1514475"/>
            <a:ext cx="6000750" cy="304800"/>
          </a:xfrm>
          <a:prstGeom prst="rect">
            <a:avLst/>
          </a:prstGeom>
          <a:noFill/>
          <a:ln w="0">
            <a:noFill/>
          </a:ln>
        </p:spPr>
        <p:txBody>
          <a:bodyPr wrap="square" lIns="0" tIns="0" rIns="0" bIns="0" anchor="t">
            <a:noAutofit/>
          </a:bodyPr>
          <a:lstStyle/>
          <a:p>
            <a:pPr>
              <a:buNone/>
              <a:defRPr sz="1500" b="1">
                <a:solidFill>
                  <a:srgbClr val="117F85"/>
                </a:solidFill>
                <a:latin typeface="Arial"/>
                <a:ea typeface="Arial"/>
                <a:cs typeface="Arial"/>
              </a:defRPr>
            </a:pPr>
            <a:r>
              <a:rPr sz="1500" b="1">
                <a:solidFill>
                  <a:srgbClr val="117F85"/>
                </a:solidFill>
                <a:latin typeface="Arial"/>
                <a:ea typeface="Arial"/>
                <a:cs typeface="Arial"/>
              </a:rPr>
              <a:t>TEXT REQUEST (SHORTENED)</a:t>
            </a:r>
          </a:p>
        </p:txBody>
      </p:sp>
      <p:sp>
        <p:nvSpPr>
          <p:cNvPr id="4" name="Rectangle 3">
            <a:extLst>
              <a:ext uri="{FF2B5EF4-FFF2-40B4-BE49-F238E27FC236}">
                <a16:creationId xmlns:a16="http://schemas.microsoft.com/office/drawing/2014/main" id="{E015D4E1-84FD-49DD-B5FD-25BD1B5BD58D}"/>
              </a:ext>
            </a:extLst>
          </p:cNvPr>
          <p:cNvSpPr>
            <a:spLocks noGrp="1"/>
          </p:cNvSpPr>
          <p:nvPr/>
        </p:nvSpPr>
        <p:spPr>
          <a:xfrm>
            <a:off x="628650" y="2009775"/>
            <a:ext cx="5715000" cy="1428750"/>
          </a:xfrm>
          <a:prstGeom prst="rect">
            <a:avLst/>
          </a:prstGeom>
          <a:noFill/>
          <a:ln w="0">
            <a:noFill/>
          </a:ln>
        </p:spPr>
        <p:txBody>
          <a:bodyPr wrap="square" lIns="0" tIns="0" rIns="0" bIns="0" anchor="t">
            <a:noAutofit/>
          </a:bodyPr>
          <a:lstStyle/>
          <a:p>
            <a:pPr>
              <a:buNone/>
              <a:defRPr sz="2550" b="1">
                <a:solidFill>
                  <a:srgbClr val="183447"/>
                </a:solidFill>
                <a:latin typeface="Arial"/>
                <a:ea typeface="Arial"/>
                <a:cs typeface="Arial"/>
              </a:defRPr>
            </a:pPr>
            <a:r>
              <a:rPr sz="2550" b="1">
                <a:solidFill>
                  <a:srgbClr val="183447"/>
                </a:solidFill>
                <a:latin typeface="Arial"/>
                <a:ea typeface="Arial"/>
                <a:cs typeface="Arial"/>
              </a:rPr>
              <a:t>Three dogs cross a bridge.</a:t>
            </a:r>
          </a:p>
          <a:p>
            <a:pPr>
              <a:buNone/>
              <a:defRPr sz="2550" b="1">
                <a:solidFill>
                  <a:srgbClr val="183447"/>
                </a:solidFill>
                <a:latin typeface="Arial"/>
                <a:ea typeface="Arial"/>
                <a:cs typeface="Arial"/>
              </a:defRPr>
            </a:pPr>
            <a:r>
              <a:rPr sz="2550" b="1">
                <a:solidFill>
                  <a:srgbClr val="183447"/>
                </a:solidFill>
                <a:latin typeface="Arial"/>
                <a:ea typeface="Arial"/>
                <a:cs typeface="Arial"/>
              </a:rPr>
              <a:t>All move right,</a:t>
            </a:r>
          </a:p>
          <a:p>
            <a:pPr>
              <a:buNone/>
              <a:defRPr sz="2550" b="1">
                <a:solidFill>
                  <a:srgbClr val="183447"/>
                </a:solidFill>
                <a:latin typeface="Arial"/>
                <a:ea typeface="Arial"/>
                <a:cs typeface="Arial"/>
              </a:defRPr>
            </a:pPr>
            <a:r>
              <a:rPr sz="2550" b="1">
                <a:solidFill>
                  <a:srgbClr val="183447"/>
                </a:solidFill>
                <a:latin typeface="Arial"/>
                <a:ea typeface="Arial"/>
                <a:cs typeface="Arial"/>
              </a:rPr>
              <a:t>one after another.</a:t>
            </a:r>
          </a:p>
        </p:txBody>
      </p:sp>
      <p:sp>
        <p:nvSpPr>
          <p:cNvPr id="5" name="Rectangle 4">
            <a:extLst>
              <a:ext uri="{FF2B5EF4-FFF2-40B4-BE49-F238E27FC236}">
                <a16:creationId xmlns:a16="http://schemas.microsoft.com/office/drawing/2014/main" id="{0CCC351D-A33F-4B87-B1BE-69A41A8A803F}"/>
              </a:ext>
            </a:extLst>
          </p:cNvPr>
          <p:cNvSpPr>
            <a:spLocks noGrp="1"/>
          </p:cNvSpPr>
          <p:nvPr/>
        </p:nvSpPr>
        <p:spPr>
          <a:xfrm>
            <a:off x="628650" y="4038600"/>
            <a:ext cx="4305300" cy="790575"/>
          </a:xfrm>
          <a:prstGeom prst="rect">
            <a:avLst/>
          </a:prstGeom>
          <a:noFill/>
          <a:ln w="0">
            <a:noFill/>
          </a:ln>
        </p:spPr>
        <p:txBody>
          <a:bodyPr wrap="square" lIns="0" tIns="0" rIns="0" bIns="0" anchor="t">
            <a:noAutofit/>
          </a:bodyPr>
          <a:lstStyle/>
          <a:p>
            <a:pPr>
              <a:buNone/>
              <a:defRPr sz="2250" b="1">
                <a:solidFill>
                  <a:srgbClr val="BD402E"/>
                </a:solidFill>
                <a:latin typeface="Arial"/>
                <a:ea typeface="Arial"/>
                <a:cs typeface="Arial"/>
              </a:defRPr>
            </a:pPr>
            <a:r>
              <a:rPr sz="2250" b="1">
                <a:solidFill>
                  <a:srgbClr val="BD402E"/>
                </a:solidFill>
                <a:latin typeface="Arial"/>
                <a:ea typeface="Arial"/>
                <a:cs typeface="Arial"/>
              </a:rPr>
              <a:t>In the right image,</a:t>
            </a:r>
          </a:p>
          <a:p>
            <a:pPr>
              <a:buNone/>
              <a:defRPr sz="2250" b="1">
                <a:solidFill>
                  <a:srgbClr val="BD402E"/>
                </a:solidFill>
                <a:latin typeface="Arial"/>
                <a:ea typeface="Arial"/>
                <a:cs typeface="Arial"/>
              </a:defRPr>
            </a:pPr>
            <a:r>
              <a:rPr sz="2250" b="1">
                <a:solidFill>
                  <a:srgbClr val="BD402E"/>
                </a:solidFill>
                <a:latin typeface="Arial"/>
                <a:ea typeface="Arial"/>
                <a:cs typeface="Arial"/>
              </a:rPr>
              <a:t>the yellow dog faces left.</a:t>
            </a:r>
          </a:p>
        </p:txBody>
      </p:sp>
      <p:sp>
        <p:nvSpPr>
          <p:cNvPr id="6" name="Rectangle 5">
            <a:extLst>
              <a:ext uri="{FF2B5EF4-FFF2-40B4-BE49-F238E27FC236}">
                <a16:creationId xmlns:a16="http://schemas.microsoft.com/office/drawing/2014/main" id="{04AFA399-65C2-444A-A77B-2B83C935D9CE}"/>
              </a:ext>
            </a:extLst>
          </p:cNvPr>
          <p:cNvSpPr>
            <a:spLocks noGrp="1"/>
          </p:cNvSpPr>
          <p:nvPr/>
        </p:nvSpPr>
        <p:spPr>
          <a:xfrm>
            <a:off x="628650" y="5238750"/>
            <a:ext cx="4476750" cy="885825"/>
          </a:xfrm>
          <a:prstGeom prst="rect">
            <a:avLst/>
          </a:prstGeom>
          <a:noFill/>
          <a:ln w="0">
            <a:noFill/>
          </a:ln>
        </p:spPr>
        <p:txBody>
          <a:bodyPr wrap="square" lIns="0" tIns="0" rIns="0" bIns="0" anchor="t">
            <a:noAutofit/>
          </a:bodyPr>
          <a:lstStyle/>
          <a:p>
            <a:pPr>
              <a:buNone/>
              <a:defRPr sz="1875" b="1">
                <a:solidFill>
                  <a:srgbClr val="117F85"/>
                </a:solidFill>
                <a:latin typeface="Arial"/>
                <a:ea typeface="Arial"/>
                <a:cs typeface="Arial"/>
              </a:defRPr>
            </a:pPr>
            <a:r>
              <a:rPr sz="1875" b="1">
                <a:solidFill>
                  <a:srgbClr val="117F85"/>
                </a:solidFill>
                <a:latin typeface="Arial"/>
                <a:ea typeface="Arial"/>
                <a:cs typeface="Arial"/>
              </a:rPr>
              <a:t>Goal: keep the right relations</a:t>
            </a:r>
          </a:p>
          <a:p>
            <a:pPr>
              <a:buNone/>
              <a:defRPr sz="1875" b="1">
                <a:solidFill>
                  <a:srgbClr val="117F85"/>
                </a:solidFill>
                <a:latin typeface="Arial"/>
                <a:ea typeface="Arial"/>
                <a:cs typeface="Arial"/>
              </a:defRPr>
            </a:pPr>
            <a:r>
              <a:rPr sz="1875" b="1">
                <a:solidFill>
                  <a:srgbClr val="117F85"/>
                </a:solidFill>
                <a:latin typeface="Arial"/>
                <a:ea typeface="Arial"/>
                <a:cs typeface="Arial"/>
              </a:rPr>
              <a:t>between objects in the image.</a:t>
            </a:r>
          </a:p>
        </p:txBody>
      </p:sp>
      <p:sp>
        <p:nvSpPr>
          <p:cNvPr id="8" name="Rectangle 7">
            <a:extLst>
              <a:ext uri="{FF2B5EF4-FFF2-40B4-BE49-F238E27FC236}">
                <a16:creationId xmlns:a16="http://schemas.microsoft.com/office/drawing/2014/main" id="{A003FE10-18C6-459B-A4AF-5EF1C51A4832}"/>
              </a:ext>
            </a:extLst>
          </p:cNvPr>
          <p:cNvSpPr>
            <a:spLocks noGrp="1"/>
          </p:cNvSpPr>
          <p:nvPr/>
        </p:nvSpPr>
        <p:spPr>
          <a:xfrm>
            <a:off x="5294571" y="5471380"/>
            <a:ext cx="4572000" cy="352425"/>
          </a:xfrm>
          <a:prstGeom prst="rect">
            <a:avLst/>
          </a:prstGeom>
          <a:noFill/>
          <a:ln w="0">
            <a:noFill/>
          </a:ln>
        </p:spPr>
        <p:txBody>
          <a:bodyPr wrap="square" lIns="0" tIns="0" rIns="0" bIns="0" anchor="t">
            <a:noAutofit/>
          </a:bodyPr>
          <a:lstStyle/>
          <a:p>
            <a:pPr>
              <a:buNone/>
              <a:defRPr sz="1575" b="0">
                <a:solidFill>
                  <a:srgbClr val="536875"/>
                </a:solidFill>
                <a:latin typeface="Arial"/>
                <a:ea typeface="Arial"/>
                <a:cs typeface="Arial"/>
              </a:defRPr>
            </a:pPr>
            <a:r>
              <a:rPr sz="1575" b="0">
                <a:solidFill>
                  <a:srgbClr val="536875"/>
                </a:solidFill>
                <a:latin typeface="Arial"/>
                <a:ea typeface="Arial"/>
                <a:cs typeface="Arial"/>
              </a:rPr>
              <a:t>Failure case, January 2026</a:t>
            </a:r>
          </a:p>
        </p:txBody>
      </p:sp>
      <p:sp>
        <p:nvSpPr>
          <p:cNvPr id="9" name="Rectangle 8">
            <a:extLst>
              <a:ext uri="{FF2B5EF4-FFF2-40B4-BE49-F238E27FC236}">
                <a16:creationId xmlns:a16="http://schemas.microsoft.com/office/drawing/2014/main" id="{FB85D4F7-57A5-4939-8F6D-6F7FF537C67B}"/>
              </a:ext>
            </a:extLst>
          </p:cNvPr>
          <p:cNvSpPr>
            <a:spLocks noGrp="1"/>
          </p:cNvSpPr>
          <p:nvPr/>
        </p:nvSpPr>
        <p:spPr>
          <a:xfrm>
            <a:off x="628650" y="6334125"/>
            <a:ext cx="10001250" cy="238125"/>
          </a:xfrm>
          <a:prstGeom prst="rect">
            <a:avLst/>
          </a:prstGeom>
          <a:noFill/>
          <a:ln w="0">
            <a:noFill/>
          </a:ln>
        </p:spPr>
        <p:txBody>
          <a:bodyPr wrap="square" lIns="0" tIns="0" rIns="0" bIns="0" anchor="t">
            <a:noAutofit/>
          </a:bodyPr>
          <a:lstStyle/>
          <a:p>
            <a:pPr>
              <a:buNone/>
              <a:defRPr sz="1275" b="0">
                <a:solidFill>
                  <a:srgbClr val="536875"/>
                </a:solidFill>
                <a:latin typeface="Arial"/>
                <a:ea typeface="Arial"/>
                <a:cs typeface="Arial"/>
              </a:defRPr>
            </a:pPr>
            <a:endParaRPr sz="1275" b="0">
              <a:solidFill>
                <a:srgbClr val="536875"/>
              </a:solidFill>
              <a:latin typeface="Arial"/>
              <a:ea typeface="Arial"/>
              <a:cs typeface="Arial"/>
            </a:endParaRPr>
          </a:p>
        </p:txBody>
      </p:sp>
      <p:sp>
        <p:nvSpPr>
          <p:cNvPr id="12" name="Rectangle 11">
            <a:extLst>
              <a:ext uri="{FF2B5EF4-FFF2-40B4-BE49-F238E27FC236}">
                <a16:creationId xmlns:a16="http://schemas.microsoft.com/office/drawing/2014/main" id="{D6E63ADA-B860-4ACE-9373-0374AA9DD788}"/>
              </a:ext>
            </a:extLst>
          </p:cNvPr>
          <p:cNvSpPr>
            <a:spLocks noGrp="1"/>
          </p:cNvSpPr>
          <p:nvPr/>
        </p:nvSpPr>
        <p:spPr>
          <a:xfrm>
            <a:off x="628650" y="6334125"/>
            <a:ext cx="9906000" cy="238125"/>
          </a:xfrm>
          <a:prstGeom prst="rect">
            <a:avLst/>
          </a:prstGeom>
          <a:noFill/>
          <a:ln w="0">
            <a:noFill/>
          </a:ln>
        </p:spPr>
        <p:txBody>
          <a:bodyPr wrap="square" lIns="0" tIns="0" rIns="0" bIns="0" anchor="t">
            <a:noAutofit/>
          </a:bodyPr>
          <a:lstStyle/>
          <a:p>
            <a:pPr>
              <a:buNone/>
              <a:defRPr sz="1275" b="0">
                <a:solidFill>
                  <a:srgbClr val="536875"/>
                </a:solidFill>
                <a:latin typeface="Arial"/>
                <a:ea typeface="Arial"/>
                <a:cs typeface="Arial"/>
              </a:defRPr>
            </a:pPr>
            <a:r>
              <a:rPr sz="1275" b="0">
                <a:solidFill>
                  <a:srgbClr val="536875"/>
                </a:solidFill>
                <a:latin typeface="Arial"/>
                <a:ea typeface="Arial"/>
                <a:cs typeface="Arial"/>
              </a:rPr>
              <a:t>Source: SpatialGenEval, ICLR 2026, Fig. 1. Prompt ID: 000709.</a:t>
            </a:r>
          </a:p>
        </p:txBody>
      </p:sp>
      <p:sp>
        <p:nvSpPr>
          <p:cNvPr id="14" name="Rectangle 13">
            <a:extLst>
              <a:ext uri="{FF2B5EF4-FFF2-40B4-BE49-F238E27FC236}">
                <a16:creationId xmlns:a16="http://schemas.microsoft.com/office/drawing/2014/main" id="{0282BE08-A6E3-4D6C-AB50-0BDCB05FE2D5}"/>
              </a:ext>
            </a:extLst>
          </p:cNvPr>
          <p:cNvSpPr>
            <a:spLocks noGrp="1"/>
          </p:cNvSpPr>
          <p:nvPr/>
        </p:nvSpPr>
        <p:spPr>
          <a:xfrm>
            <a:off x="628650" y="3676650"/>
            <a:ext cx="5715000" cy="304800"/>
          </a:xfrm>
          <a:prstGeom prst="rect">
            <a:avLst/>
          </a:prstGeom>
          <a:noFill/>
          <a:ln w="0">
            <a:noFill/>
          </a:ln>
        </p:spPr>
        <p:txBody>
          <a:bodyPr wrap="square" lIns="0" tIns="0" rIns="0" bIns="0" anchor="t">
            <a:noAutofit/>
          </a:bodyPr>
          <a:lstStyle/>
          <a:p>
            <a:pPr>
              <a:buNone/>
              <a:defRPr sz="1500" b="1">
                <a:solidFill>
                  <a:srgbClr val="B74331"/>
                </a:solidFill>
                <a:latin typeface="Arial"/>
                <a:ea typeface="Arial"/>
                <a:cs typeface="Arial"/>
              </a:defRPr>
            </a:pPr>
            <a:r>
              <a:rPr sz="1500" b="1">
                <a:solidFill>
                  <a:srgbClr val="B74331"/>
                </a:solidFill>
                <a:latin typeface="Arial"/>
                <a:ea typeface="Arial"/>
                <a:cs typeface="Arial"/>
              </a:rPr>
              <a:t>WHAT WENT WRONG</a:t>
            </a:r>
          </a:p>
        </p:txBody>
      </p:sp>
      <p:pic>
        <p:nvPicPr>
          <p:cNvPr id="26" name="Picture 6"/>
          <p:cNvPicPr>
            <a:picLocks noChangeAspect="1"/>
          </p:cNvPicPr>
          <p:nvPr/>
        </p:nvPicPr>
        <p:blipFill>
          <a:blip r:embed="rId3"/>
          <a:stretch>
            <a:fillRect/>
          </a:stretch>
        </p:blipFill>
        <p:spPr>
          <a:xfrm>
            <a:off x="4987484" y="1819275"/>
            <a:ext cx="7204516" cy="3619012"/>
          </a:xfrm>
          <a:prstGeom prst="rect">
            <a:avLst/>
          </a:prstGeom>
        </p:spPr>
      </p:pic>
    </p:spTree>
    <p:extLst>
      <p:ext uri="{BB962C8B-B14F-4D97-AF65-F5344CB8AC3E}">
        <p14:creationId xmlns:p14="http://schemas.microsoft.com/office/powerpoint/2010/main" val="1821045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Problem: All details must fit one scene">
            <a:extLst>
              <a:ext uri="{FF2B5EF4-FFF2-40B4-BE49-F238E27FC236}">
                <a16:creationId xmlns:a16="http://schemas.microsoft.com/office/drawing/2014/main" id="{504AFAD6-CCAA-49FE-ADD5-BF88B43E8170}"/>
              </a:ext>
            </a:extLst>
          </p:cNvPr>
          <p:cNvSpPr>
            <a:spLocks noGrp="1"/>
          </p:cNvSpPr>
          <p:nvPr/>
        </p:nvSpPr>
        <p:spPr>
          <a:xfrm>
            <a:off x="628650" y="457200"/>
            <a:ext cx="10934700" cy="609600"/>
          </a:xfrm>
          <a:prstGeom prst="rect">
            <a:avLst/>
          </a:prstGeom>
          <a:noFill/>
          <a:ln w="0">
            <a:noFill/>
          </a:ln>
        </p:spPr>
        <p:txBody>
          <a:bodyPr wrap="square" lIns="0" tIns="0" rIns="0" bIns="0" anchor="t">
            <a:noAutofit/>
          </a:bodyPr>
          <a:lstStyle/>
          <a:p>
            <a:pPr>
              <a:defRPr sz="3300" b="1">
                <a:solidFill>
                  <a:srgbClr val="183447"/>
                </a:solidFill>
                <a:latin typeface="Arial"/>
                <a:ea typeface="Arial"/>
                <a:cs typeface="Arial"/>
              </a:defRPr>
            </a:pPr>
            <a:r>
              <a:rPr sz="3300" b="1">
                <a:solidFill>
                  <a:srgbClr val="183447"/>
                </a:solidFill>
                <a:latin typeface="Arial"/>
                <a:ea typeface="Arial"/>
                <a:cs typeface="Arial"/>
              </a:rPr>
              <a:t>Problem: All details must fit one scene</a:t>
            </a:r>
          </a:p>
        </p:txBody>
      </p:sp>
      <p:sp>
        <p:nvSpPr>
          <p:cNvPr id="2" name="PROMPT REQUIREMENT (SHORTENED)">
            <a:extLst>
              <a:ext uri="{FF2B5EF4-FFF2-40B4-BE49-F238E27FC236}">
                <a16:creationId xmlns:a16="http://schemas.microsoft.com/office/drawing/2014/main" id="{DB4C3BC6-CBA4-462D-93FD-2C00C175A726}"/>
              </a:ext>
            </a:extLst>
          </p:cNvPr>
          <p:cNvSpPr>
            <a:spLocks noGrp="1"/>
          </p:cNvSpPr>
          <p:nvPr/>
        </p:nvSpPr>
        <p:spPr>
          <a:xfrm>
            <a:off x="628650" y="1524000"/>
            <a:ext cx="5381625" cy="342900"/>
          </a:xfrm>
          <a:prstGeom prst="rect">
            <a:avLst/>
          </a:prstGeom>
          <a:noFill/>
          <a:ln w="0">
            <a:noFill/>
          </a:ln>
        </p:spPr>
        <p:txBody>
          <a:bodyPr wrap="square" lIns="0" tIns="0" rIns="0" bIns="0" anchor="t">
            <a:noAutofit/>
          </a:bodyPr>
          <a:lstStyle/>
          <a:p>
            <a:pPr>
              <a:defRPr sz="1575" b="1">
                <a:solidFill>
                  <a:srgbClr val="117F85"/>
                </a:solidFill>
                <a:latin typeface="Arial"/>
                <a:ea typeface="Arial"/>
                <a:cs typeface="Arial"/>
              </a:defRPr>
            </a:pPr>
            <a:r>
              <a:rPr sz="1575" b="1">
                <a:solidFill>
                  <a:srgbClr val="117F85"/>
                </a:solidFill>
                <a:latin typeface="Arial"/>
                <a:ea typeface="Arial"/>
                <a:cs typeface="Arial"/>
              </a:rPr>
              <a:t>PROMPT REQUIREMENT (SHORTENED)</a:t>
            </a:r>
          </a:p>
        </p:txBody>
      </p:sp>
      <p:sp>
        <p:nvSpPr>
          <p:cNvPr id="3" name="A yellow bowl of lemons sits on the windowsill beside the plants.">
            <a:extLst>
              <a:ext uri="{FF2B5EF4-FFF2-40B4-BE49-F238E27FC236}">
                <a16:creationId xmlns:a16="http://schemas.microsoft.com/office/drawing/2014/main" id="{A77C6573-7406-4394-9E9F-F96E2CB883CB}"/>
              </a:ext>
            </a:extLst>
          </p:cNvPr>
          <p:cNvSpPr>
            <a:spLocks noGrp="1"/>
          </p:cNvSpPr>
          <p:nvPr/>
        </p:nvSpPr>
        <p:spPr>
          <a:xfrm>
            <a:off x="628650" y="2019300"/>
            <a:ext cx="5238750" cy="1200150"/>
          </a:xfrm>
          <a:prstGeom prst="rect">
            <a:avLst/>
          </a:prstGeom>
          <a:noFill/>
          <a:ln w="0">
            <a:noFill/>
          </a:ln>
        </p:spPr>
        <p:txBody>
          <a:bodyPr wrap="square" lIns="0" tIns="0" rIns="0" bIns="0" anchor="t">
            <a:noAutofit/>
          </a:bodyPr>
          <a:lstStyle/>
          <a:p>
            <a:pPr>
              <a:defRPr sz="2325" b="0">
                <a:solidFill>
                  <a:srgbClr val="183447"/>
                </a:solidFill>
                <a:latin typeface="Arial"/>
                <a:ea typeface="Arial"/>
                <a:cs typeface="Arial"/>
              </a:defRPr>
            </a:pPr>
            <a:r>
              <a:rPr sz="2325" b="0">
                <a:solidFill>
                  <a:srgbClr val="183447"/>
                </a:solidFill>
                <a:latin typeface="Arial"/>
                <a:ea typeface="Arial"/>
                <a:cs typeface="Arial"/>
              </a:rPr>
              <a:t>A yellow bowl of lemons</a:t>
            </a:r>
          </a:p>
          <a:p>
            <a:pPr>
              <a:defRPr sz="2325" b="0">
                <a:solidFill>
                  <a:srgbClr val="183447"/>
                </a:solidFill>
                <a:latin typeface="Arial"/>
                <a:ea typeface="Arial"/>
                <a:cs typeface="Arial"/>
              </a:defRPr>
            </a:pPr>
            <a:r>
              <a:rPr sz="2325" b="0">
                <a:solidFill>
                  <a:srgbClr val="183447"/>
                </a:solidFill>
                <a:latin typeface="Arial"/>
                <a:ea typeface="Arial"/>
                <a:cs typeface="Arial"/>
              </a:rPr>
              <a:t>sits on the windowsill</a:t>
            </a:r>
          </a:p>
          <a:p>
            <a:pPr>
              <a:defRPr sz="2325" b="0">
                <a:solidFill>
                  <a:srgbClr val="183447"/>
                </a:solidFill>
                <a:latin typeface="Arial"/>
                <a:ea typeface="Arial"/>
                <a:cs typeface="Arial"/>
              </a:defRPr>
            </a:pPr>
            <a:r>
              <a:rPr sz="2325" b="0">
                <a:solidFill>
                  <a:srgbClr val="183447"/>
                </a:solidFill>
                <a:latin typeface="Arial"/>
                <a:ea typeface="Arial"/>
                <a:cs typeface="Arial"/>
              </a:rPr>
              <a:t>beside the plants.</a:t>
            </a:r>
          </a:p>
        </p:txBody>
      </p:sp>
      <p:sp>
        <p:nvSpPr>
          <p:cNvPr id="4" name="WHAT WENT WRONG">
            <a:extLst>
              <a:ext uri="{FF2B5EF4-FFF2-40B4-BE49-F238E27FC236}">
                <a16:creationId xmlns:a16="http://schemas.microsoft.com/office/drawing/2014/main" id="{66041771-643C-4954-95FE-39464D8ACA39}"/>
              </a:ext>
            </a:extLst>
          </p:cNvPr>
          <p:cNvSpPr>
            <a:spLocks noGrp="1"/>
          </p:cNvSpPr>
          <p:nvPr/>
        </p:nvSpPr>
        <p:spPr>
          <a:xfrm>
            <a:off x="628650" y="3562350"/>
            <a:ext cx="5238750" cy="342900"/>
          </a:xfrm>
          <a:prstGeom prst="rect">
            <a:avLst/>
          </a:prstGeom>
          <a:noFill/>
          <a:ln w="0">
            <a:noFill/>
          </a:ln>
        </p:spPr>
        <p:txBody>
          <a:bodyPr wrap="square" lIns="0" tIns="0" rIns="0" bIns="0" anchor="t">
            <a:noAutofit/>
          </a:bodyPr>
          <a:lstStyle/>
          <a:p>
            <a:pPr>
              <a:defRPr sz="1650" b="1">
                <a:solidFill>
                  <a:srgbClr val="BF412E"/>
                </a:solidFill>
                <a:latin typeface="Arial"/>
                <a:ea typeface="Arial"/>
                <a:cs typeface="Arial"/>
              </a:defRPr>
            </a:pPr>
            <a:r>
              <a:rPr sz="1650" b="1">
                <a:solidFill>
                  <a:srgbClr val="BF412E"/>
                </a:solidFill>
                <a:latin typeface="Arial"/>
                <a:ea typeface="Arial"/>
                <a:cs typeface="Arial"/>
              </a:rPr>
              <a:t>WHAT WENT WRONG</a:t>
            </a:r>
          </a:p>
        </p:txBody>
      </p:sp>
      <p:sp>
        <p:nvSpPr>
          <p:cNvPr id="5" name="The bowl is on the kitchen counter.">
            <a:extLst>
              <a:ext uri="{FF2B5EF4-FFF2-40B4-BE49-F238E27FC236}">
                <a16:creationId xmlns:a16="http://schemas.microsoft.com/office/drawing/2014/main" id="{FE23B5C9-91B5-48A2-BE2B-5B6B4BD82790}"/>
              </a:ext>
            </a:extLst>
          </p:cNvPr>
          <p:cNvSpPr>
            <a:spLocks noGrp="1"/>
          </p:cNvSpPr>
          <p:nvPr/>
        </p:nvSpPr>
        <p:spPr>
          <a:xfrm>
            <a:off x="628650" y="4048125"/>
            <a:ext cx="5238750" cy="914400"/>
          </a:xfrm>
          <a:prstGeom prst="rect">
            <a:avLst/>
          </a:prstGeom>
          <a:noFill/>
          <a:ln w="0">
            <a:noFill/>
          </a:ln>
        </p:spPr>
        <p:txBody>
          <a:bodyPr wrap="square" lIns="0" tIns="0" rIns="0" bIns="0" anchor="t">
            <a:noAutofit/>
          </a:bodyPr>
          <a:lstStyle/>
          <a:p>
            <a:pPr>
              <a:defRPr sz="2475" b="1">
                <a:solidFill>
                  <a:srgbClr val="BF412E"/>
                </a:solidFill>
                <a:latin typeface="Arial"/>
                <a:ea typeface="Arial"/>
                <a:cs typeface="Arial"/>
              </a:defRPr>
            </a:pPr>
            <a:r>
              <a:rPr sz="2475" b="1">
                <a:solidFill>
                  <a:srgbClr val="BF412E"/>
                </a:solidFill>
                <a:latin typeface="Arial"/>
                <a:ea typeface="Arial"/>
                <a:cs typeface="Arial"/>
              </a:rPr>
              <a:t>The bowl is on the</a:t>
            </a:r>
          </a:p>
          <a:p>
            <a:pPr>
              <a:defRPr sz="2475" b="1">
                <a:solidFill>
                  <a:srgbClr val="BF412E"/>
                </a:solidFill>
                <a:latin typeface="Arial"/>
                <a:ea typeface="Arial"/>
                <a:cs typeface="Arial"/>
              </a:defRPr>
            </a:pPr>
            <a:r>
              <a:rPr sz="2475" b="1">
                <a:solidFill>
                  <a:srgbClr val="BF412E"/>
                </a:solidFill>
                <a:latin typeface="Arial"/>
                <a:ea typeface="Arial"/>
                <a:cs typeface="Arial"/>
              </a:rPr>
              <a:t>kitchen counter.</a:t>
            </a:r>
          </a:p>
        </p:txBody>
      </p:sp>
      <p:sp>
        <p:nvSpPr>
          <p:cNvPr id="6" name="Goal: keep objects and their relations correct.">
            <a:extLst>
              <a:ext uri="{FF2B5EF4-FFF2-40B4-BE49-F238E27FC236}">
                <a16:creationId xmlns:a16="http://schemas.microsoft.com/office/drawing/2014/main" id="{4198EB00-2D14-4D7A-B3E5-CEDC0A6E54A4}"/>
              </a:ext>
            </a:extLst>
          </p:cNvPr>
          <p:cNvSpPr>
            <a:spLocks noGrp="1"/>
          </p:cNvSpPr>
          <p:nvPr/>
        </p:nvSpPr>
        <p:spPr>
          <a:xfrm>
            <a:off x="628650" y="5448300"/>
            <a:ext cx="5286375" cy="781050"/>
          </a:xfrm>
          <a:prstGeom prst="rect">
            <a:avLst/>
          </a:prstGeom>
          <a:noFill/>
          <a:ln w="0">
            <a:noFill/>
          </a:ln>
        </p:spPr>
        <p:txBody>
          <a:bodyPr wrap="square" lIns="0" tIns="0" rIns="0" bIns="0" anchor="t">
            <a:noAutofit/>
          </a:bodyPr>
          <a:lstStyle/>
          <a:p>
            <a:pPr>
              <a:defRPr sz="2175" b="1">
                <a:solidFill>
                  <a:srgbClr val="117F85"/>
                </a:solidFill>
                <a:latin typeface="Arial"/>
                <a:ea typeface="Arial"/>
                <a:cs typeface="Arial"/>
              </a:defRPr>
            </a:pPr>
            <a:r>
              <a:rPr sz="2175" b="1">
                <a:solidFill>
                  <a:srgbClr val="117F85"/>
                </a:solidFill>
                <a:latin typeface="Arial"/>
                <a:ea typeface="Arial"/>
                <a:cs typeface="Arial"/>
              </a:rPr>
              <a:t>Goal: keep objects and</a:t>
            </a:r>
          </a:p>
          <a:p>
            <a:pPr>
              <a:defRPr sz="2175" b="1">
                <a:solidFill>
                  <a:srgbClr val="117F85"/>
                </a:solidFill>
                <a:latin typeface="Arial"/>
                <a:ea typeface="Arial"/>
                <a:cs typeface="Arial"/>
              </a:defRPr>
            </a:pPr>
            <a:r>
              <a:rPr sz="2175" b="1">
                <a:solidFill>
                  <a:srgbClr val="117F85"/>
                </a:solidFill>
                <a:latin typeface="Arial"/>
                <a:ea typeface="Arial"/>
                <a:cs typeface="Arial"/>
              </a:rPr>
              <a:t>their relations correct.</a:t>
            </a:r>
          </a:p>
        </p:txBody>
      </p:sp>
      <p:pic>
        <p:nvPicPr>
          <p:cNvPr id="16" name="Picture 15"/>
          <p:cNvPicPr>
            <a:picLocks noChangeAspect="1"/>
          </p:cNvPicPr>
          <p:nvPr/>
        </p:nvPicPr>
        <p:blipFill>
          <a:blip r:embed="rId3"/>
          <a:stretch/>
        </p:blipFill>
        <p:spPr>
          <a:xfrm>
            <a:off x="6438900" y="1257300"/>
            <a:ext cx="5048250" cy="4938106"/>
          </a:xfrm>
          <a:prstGeom prst="rect">
            <a:avLst/>
          </a:prstGeom>
        </p:spPr>
      </p:pic>
      <p:sp>
        <p:nvSpPr>
          <p:cNvPr id="8" name="Source: T2I-CoReBench, Fig. 1(c), 2025. Prompt C-MI-001.">
            <a:extLst>
              <a:ext uri="{FF2B5EF4-FFF2-40B4-BE49-F238E27FC236}">
                <a16:creationId xmlns:a16="http://schemas.microsoft.com/office/drawing/2014/main" id="{3483EA6F-844C-4E29-A599-1AC20B8E1506}"/>
              </a:ext>
            </a:extLst>
          </p:cNvPr>
          <p:cNvSpPr>
            <a:spLocks noGrp="1"/>
          </p:cNvSpPr>
          <p:nvPr/>
        </p:nvSpPr>
        <p:spPr>
          <a:xfrm>
            <a:off x="628650" y="6477000"/>
            <a:ext cx="10001250" cy="228600"/>
          </a:xfrm>
          <a:prstGeom prst="rect">
            <a:avLst/>
          </a:prstGeom>
          <a:noFill/>
          <a:ln w="0">
            <a:noFill/>
          </a:ln>
        </p:spPr>
        <p:txBody>
          <a:bodyPr wrap="square" lIns="0" tIns="0" rIns="0" bIns="0" anchor="t">
            <a:noAutofit/>
          </a:bodyPr>
          <a:lstStyle/>
          <a:p>
            <a:pPr>
              <a:defRPr sz="1200" b="0">
                <a:solidFill>
                  <a:srgbClr val="536875"/>
                </a:solidFill>
                <a:latin typeface="Arial"/>
                <a:ea typeface="Arial"/>
                <a:cs typeface="Arial"/>
              </a:defRPr>
            </a:pPr>
            <a:r>
              <a:rPr sz="1200" b="0">
                <a:solidFill>
                  <a:srgbClr val="536875"/>
                </a:solidFill>
                <a:latin typeface="Arial"/>
                <a:ea typeface="Arial"/>
                <a:cs typeface="Arial"/>
              </a:rPr>
              <a:t>Source: T2I-CoReBench, Fig. 1(c), 2025. Prompt C-MI-001.</a:t>
            </a:r>
          </a:p>
        </p:txBody>
      </p:sp>
      <p:sp>
        <p:nvSpPr>
          <p:cNvPr id="9" name="2 / 5">
            <a:extLst>
              <a:ext uri="{FF2B5EF4-FFF2-40B4-BE49-F238E27FC236}">
                <a16:creationId xmlns:a16="http://schemas.microsoft.com/office/drawing/2014/main" id="{85EE16BB-ABF7-4F25-82BE-1EC3F4ADE8BC}"/>
              </a:ext>
            </a:extLst>
          </p:cNvPr>
          <p:cNvSpPr>
            <a:spLocks noGrp="1"/>
          </p:cNvSpPr>
          <p:nvPr/>
        </p:nvSpPr>
        <p:spPr>
          <a:xfrm>
            <a:off x="10858500" y="6419850"/>
            <a:ext cx="685800" cy="228600"/>
          </a:xfrm>
          <a:prstGeom prst="rect">
            <a:avLst/>
          </a:prstGeom>
          <a:noFill/>
          <a:ln w="0">
            <a:noFill/>
          </a:ln>
        </p:spPr>
        <p:txBody>
          <a:bodyPr wrap="square" lIns="0" tIns="0" rIns="0" bIns="0" anchor="t">
            <a:noAutofit/>
          </a:bodyPr>
          <a:lstStyle/>
          <a:p>
            <a:pPr>
              <a:defRPr sz="1350" b="0">
                <a:solidFill>
                  <a:srgbClr val="536875"/>
                </a:solidFill>
                <a:latin typeface="Arial"/>
                <a:ea typeface="Arial"/>
                <a:cs typeface="Arial"/>
              </a:defRPr>
            </a:pPr>
            <a:r>
              <a:rPr sz="1350" b="0">
                <a:solidFill>
                  <a:srgbClr val="536875"/>
                </a:solidFill>
                <a:latin typeface="Arial"/>
                <a:ea typeface="Arial"/>
                <a:cs typeface="Arial"/>
              </a:rPr>
              <a:t>2 / 5</a:t>
            </a:r>
          </a:p>
        </p:txBody>
      </p:sp>
    </p:spTree>
    <p:extLst>
      <p:ext uri="{BB962C8B-B14F-4D97-AF65-F5344CB8AC3E}">
        <p14:creationId xmlns:p14="http://schemas.microsoft.com/office/powerpoint/2010/main" val="243095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 name="Method: How the agents work together">
            <a:extLst>
              <a:ext uri="{FF2B5EF4-FFF2-40B4-BE49-F238E27FC236}">
                <a16:creationId xmlns:a16="http://schemas.microsoft.com/office/drawing/2014/main" id="{C58FACFC-6B3F-41C7-84F8-A9F71C7A6132}"/>
              </a:ext>
            </a:extLst>
          </p:cNvPr>
          <p:cNvSpPr>
            <a:spLocks noGrp="1"/>
          </p:cNvSpPr>
          <p:nvPr/>
        </p:nvSpPr>
        <p:spPr>
          <a:xfrm>
            <a:off x="628650" y="457200"/>
            <a:ext cx="10934700" cy="609600"/>
          </a:xfrm>
          <a:prstGeom prst="rect">
            <a:avLst/>
          </a:prstGeom>
          <a:noFill/>
          <a:ln w="0">
            <a:noFill/>
          </a:ln>
        </p:spPr>
        <p:txBody>
          <a:bodyPr wrap="square" lIns="0" tIns="0" rIns="0" bIns="0" anchor="t">
            <a:noAutofit/>
          </a:bodyPr>
          <a:lstStyle/>
          <a:p>
            <a:pPr algn="l">
              <a:buNone/>
              <a:defRPr sz="3300" b="1">
                <a:solidFill>
                  <a:srgbClr val="183447"/>
                </a:solidFill>
                <a:latin typeface="Arial"/>
                <a:ea typeface="Arial"/>
                <a:cs typeface="Arial"/>
              </a:defRPr>
            </a:pPr>
            <a:r>
              <a:rPr sz="3300" b="1">
                <a:solidFill>
                  <a:srgbClr val="183447"/>
                </a:solidFill>
                <a:latin typeface="Arial"/>
                <a:ea typeface="Arial"/>
                <a:cs typeface="Arial"/>
              </a:rPr>
              <a:t>Method: How the agents work together</a:t>
            </a:r>
          </a:p>
        </p:txBody>
      </p:sp>
      <p:sp>
        <p:nvSpPr>
          <p:cNvPr id="2" name="3 / 5">
            <a:extLst>
              <a:ext uri="{FF2B5EF4-FFF2-40B4-BE49-F238E27FC236}">
                <a16:creationId xmlns:a16="http://schemas.microsoft.com/office/drawing/2014/main" id="{B525551F-C8A2-4F38-A4AA-07F4745F5703}"/>
              </a:ext>
            </a:extLst>
          </p:cNvPr>
          <p:cNvSpPr>
            <a:spLocks noGrp="1"/>
          </p:cNvSpPr>
          <p:nvPr/>
        </p:nvSpPr>
        <p:spPr>
          <a:xfrm>
            <a:off x="10858500" y="6419850"/>
            <a:ext cx="685800" cy="228600"/>
          </a:xfrm>
          <a:prstGeom prst="rect">
            <a:avLst/>
          </a:prstGeom>
          <a:noFill/>
          <a:ln w="0">
            <a:noFill/>
          </a:ln>
        </p:spPr>
        <p:txBody>
          <a:bodyPr wrap="square" lIns="0" tIns="0" rIns="0" bIns="0" anchor="t">
            <a:noAutofit/>
          </a:bodyPr>
          <a:lstStyle/>
          <a:p>
            <a:pPr algn="l">
              <a:buNone/>
              <a:defRPr sz="1350" b="0">
                <a:solidFill>
                  <a:srgbClr val="536875"/>
                </a:solidFill>
                <a:latin typeface="Arial"/>
                <a:ea typeface="Arial"/>
                <a:cs typeface="Arial"/>
              </a:defRPr>
            </a:pPr>
            <a:r>
              <a:rPr sz="1350" b="0">
                <a:solidFill>
                  <a:srgbClr val="536875"/>
                </a:solidFill>
                <a:latin typeface="Arial"/>
                <a:ea typeface="Arial"/>
                <a:cs typeface="Arial"/>
              </a:rPr>
              <a:t>3 / 5</a:t>
            </a:r>
          </a:p>
        </p:txBody>
      </p:sp>
      <p:sp>
        <p:nvSpPr>
          <p:cNvPr id="3" name="Bar example: “Drinks sit in a line on the counte">
            <a:extLst>
              <a:ext uri="{FF2B5EF4-FFF2-40B4-BE49-F238E27FC236}">
                <a16:creationId xmlns:a16="http://schemas.microsoft.com/office/drawing/2014/main" id="{FAB01B8F-CC36-4D1A-BFB4-BBF05B5F2CB7}"/>
              </a:ext>
            </a:extLst>
          </p:cNvPr>
          <p:cNvSpPr>
            <a:spLocks noGrp="1"/>
          </p:cNvSpPr>
          <p:nvPr/>
        </p:nvSpPr>
        <p:spPr>
          <a:xfrm>
            <a:off x="628650" y="1257300"/>
            <a:ext cx="10915650" cy="581025"/>
          </a:xfrm>
          <a:prstGeom prst="rect">
            <a:avLst/>
          </a:prstGeom>
          <a:noFill/>
          <a:ln w="0">
            <a:noFill/>
          </a:ln>
        </p:spPr>
        <p:txBody>
          <a:bodyPr wrap="square" lIns="0" tIns="0" rIns="0" bIns="0" anchor="t">
            <a:noAutofit/>
          </a:bodyPr>
          <a:lstStyle/>
          <a:p>
            <a:pPr algn="l">
              <a:buNone/>
              <a:defRPr sz="1950" b="0">
                <a:solidFill>
                  <a:srgbClr val="536875"/>
                </a:solidFill>
                <a:latin typeface="Arial"/>
                <a:ea typeface="Arial"/>
                <a:cs typeface="Arial"/>
              </a:defRPr>
            </a:pPr>
            <a:r>
              <a:rPr sz="1950" b="0">
                <a:solidFill>
                  <a:srgbClr val="536875"/>
                </a:solidFill>
                <a:latin typeface="Arial"/>
                <a:ea typeface="Arial"/>
                <a:cs typeface="Arial"/>
              </a:rPr>
              <a:t>Bar example: “Drinks sit in a line on the counter. A bartender prepares a drink.”</a:t>
            </a:r>
          </a:p>
        </p:txBody>
      </p:sp>
      <p:sp>
        <p:nvSpPr>
          <p:cNvPr id="4" name="Six specialist agents">
            <a:extLst>
              <a:ext uri="{FF2B5EF4-FFF2-40B4-BE49-F238E27FC236}">
                <a16:creationId xmlns:a16="http://schemas.microsoft.com/office/drawing/2014/main" id="{6A5A808C-8670-47A6-BFC8-1206CEBD4241}"/>
              </a:ext>
            </a:extLst>
          </p:cNvPr>
          <p:cNvSpPr>
            <a:spLocks noGrp="1"/>
          </p:cNvSpPr>
          <p:nvPr/>
        </p:nvSpPr>
        <p:spPr>
          <a:xfrm>
            <a:off x="3333750" y="1971675"/>
            <a:ext cx="4981575" cy="323850"/>
          </a:xfrm>
          <a:prstGeom prst="rect">
            <a:avLst/>
          </a:prstGeom>
          <a:noFill/>
          <a:ln w="0">
            <a:noFill/>
          </a:ln>
        </p:spPr>
        <p:txBody>
          <a:bodyPr wrap="square" lIns="0" tIns="0" rIns="0" bIns="0" anchor="t">
            <a:noAutofit/>
          </a:bodyPr>
          <a:lstStyle/>
          <a:p>
            <a:pPr algn="l">
              <a:buNone/>
              <a:defRPr sz="1950" b="1">
                <a:solidFill>
                  <a:srgbClr val="117F85"/>
                </a:solidFill>
                <a:latin typeface="Arial"/>
                <a:ea typeface="Arial"/>
                <a:cs typeface="Arial"/>
              </a:defRPr>
            </a:pPr>
            <a:r>
              <a:rPr sz="1950" b="1">
                <a:solidFill>
                  <a:srgbClr val="117F85"/>
                </a:solidFill>
                <a:latin typeface="Arial"/>
                <a:ea typeface="Arial"/>
                <a:cs typeface="Arial"/>
              </a:rPr>
              <a:t>Six specialist agents</a:t>
            </a:r>
          </a:p>
        </p:txBody>
      </p:sp>
      <p:sp>
        <p:nvSpPr>
          <p:cNvPr id="5" name="Available specialist agents">
            <a:extLst>
              <a:ext uri="{FF2B5EF4-FFF2-40B4-BE49-F238E27FC236}">
                <a16:creationId xmlns:a16="http://schemas.microsoft.com/office/drawing/2014/main" id="{8CD14A03-1BB1-4A42-9EEE-589D1C632690}"/>
              </a:ext>
            </a:extLst>
          </p:cNvPr>
          <p:cNvSpPr>
            <a:spLocks noGrp="1"/>
          </p:cNvSpPr>
          <p:nvPr/>
        </p:nvSpPr>
        <p:spPr>
          <a:xfrm>
            <a:off x="3152775" y="2371725"/>
            <a:ext cx="5210175" cy="2571750"/>
          </a:xfrm>
          <a:prstGeom prst="rect">
            <a:avLst/>
          </a:prstGeom>
          <a:noFill/>
          <a:ln w="15240">
            <a:solidFill>
              <a:srgbClr val="C7D2D8"/>
            </a:solidFill>
            <a:prstDash val="solid"/>
          </a:ln>
        </p:spPr>
        <p:txBody>
          <a:bodyPr/>
          <a:lstStyle/>
          <a:p>
            <a:endParaRPr/>
          </a:p>
        </p:txBody>
      </p:sp>
      <p:sp>
        <p:nvSpPr>
          <p:cNvPr id="6" name="Object agent">
            <a:extLst>
              <a:ext uri="{FF2B5EF4-FFF2-40B4-BE49-F238E27FC236}">
                <a16:creationId xmlns:a16="http://schemas.microsoft.com/office/drawing/2014/main" id="{97D6F5C6-3577-41E8-AC5D-1E93D2B8AFE1}"/>
              </a:ext>
            </a:extLst>
          </p:cNvPr>
          <p:cNvSpPr>
            <a:spLocks noGrp="1"/>
          </p:cNvSpPr>
          <p:nvPr/>
        </p:nvSpPr>
        <p:spPr>
          <a:xfrm>
            <a:off x="3333750" y="2524125"/>
            <a:ext cx="2324100" cy="647700"/>
          </a:xfrm>
          <a:prstGeom prst="rect">
            <a:avLst/>
          </a:prstGeom>
          <a:solidFill>
            <a:srgbClr val="ECF5F4"/>
          </a:solidFill>
          <a:ln w="9525">
            <a:solidFill>
              <a:srgbClr val="C7D2D8"/>
            </a:solidFill>
            <a:prstDash val="solid"/>
          </a:ln>
        </p:spPr>
        <p:txBody>
          <a:bodyPr/>
          <a:lstStyle/>
          <a:p>
            <a:endParaRPr/>
          </a:p>
        </p:txBody>
      </p:sp>
      <p:sp>
        <p:nvSpPr>
          <p:cNvPr id="7" name="Object agent">
            <a:extLst>
              <a:ext uri="{FF2B5EF4-FFF2-40B4-BE49-F238E27FC236}">
                <a16:creationId xmlns:a16="http://schemas.microsoft.com/office/drawing/2014/main" id="{477F25B2-D9F1-4466-A211-4630BDAA33E0}"/>
              </a:ext>
            </a:extLst>
          </p:cNvPr>
          <p:cNvSpPr>
            <a:spLocks noGrp="1"/>
          </p:cNvSpPr>
          <p:nvPr/>
        </p:nvSpPr>
        <p:spPr>
          <a:xfrm>
            <a:off x="3438525" y="2600325"/>
            <a:ext cx="2133600" cy="276225"/>
          </a:xfrm>
          <a:prstGeom prst="rect">
            <a:avLst/>
          </a:prstGeom>
          <a:noFill/>
          <a:ln w="0">
            <a:noFill/>
          </a:ln>
        </p:spPr>
        <p:txBody>
          <a:bodyPr wrap="square" lIns="0" tIns="0" rIns="0" bIns="0" anchor="t">
            <a:noAutofit/>
          </a:bodyPr>
          <a:lstStyle/>
          <a:p>
            <a:pPr algn="l">
              <a:buNone/>
              <a:defRPr sz="1650" b="1">
                <a:solidFill>
                  <a:srgbClr val="183447"/>
                </a:solidFill>
                <a:latin typeface="Arial"/>
                <a:ea typeface="Arial"/>
                <a:cs typeface="Arial"/>
              </a:defRPr>
            </a:pPr>
            <a:r>
              <a:rPr sz="1650" b="1">
                <a:solidFill>
                  <a:srgbClr val="183447"/>
                </a:solidFill>
                <a:latin typeface="Arial"/>
                <a:ea typeface="Arial"/>
                <a:cs typeface="Arial"/>
              </a:rPr>
              <a:t>Object agent</a:t>
            </a:r>
          </a:p>
        </p:txBody>
      </p:sp>
      <p:sp>
        <p:nvSpPr>
          <p:cNvPr id="8" name="bartender + drinks">
            <a:extLst>
              <a:ext uri="{FF2B5EF4-FFF2-40B4-BE49-F238E27FC236}">
                <a16:creationId xmlns:a16="http://schemas.microsoft.com/office/drawing/2014/main" id="{C068BCA9-D168-4F75-A06A-19BDAF0F6B6D}"/>
              </a:ext>
            </a:extLst>
          </p:cNvPr>
          <p:cNvSpPr>
            <a:spLocks noGrp="1"/>
          </p:cNvSpPr>
          <p:nvPr/>
        </p:nvSpPr>
        <p:spPr>
          <a:xfrm>
            <a:off x="3438525" y="2886075"/>
            <a:ext cx="2133600" cy="257175"/>
          </a:xfrm>
          <a:prstGeom prst="rect">
            <a:avLst/>
          </a:prstGeom>
          <a:noFill/>
          <a:ln w="0">
            <a:noFill/>
          </a:ln>
        </p:spPr>
        <p:txBody>
          <a:bodyPr wrap="square" lIns="0" tIns="0" rIns="0" bIns="0" anchor="t">
            <a:noAutofit/>
          </a:bodyPr>
          <a:lstStyle/>
          <a:p>
            <a:pPr algn="l">
              <a:buNone/>
              <a:defRPr sz="1500" b="0">
                <a:solidFill>
                  <a:srgbClr val="536875"/>
                </a:solidFill>
                <a:latin typeface="Arial"/>
                <a:ea typeface="Arial"/>
                <a:cs typeface="Arial"/>
              </a:defRPr>
            </a:pPr>
            <a:r>
              <a:rPr sz="1500" b="0">
                <a:solidFill>
                  <a:srgbClr val="536875"/>
                </a:solidFill>
                <a:latin typeface="Arial"/>
                <a:ea typeface="Arial"/>
                <a:cs typeface="Arial"/>
              </a:rPr>
              <a:t>bartender + drinks</a:t>
            </a:r>
          </a:p>
        </p:txBody>
      </p:sp>
      <p:sp>
        <p:nvSpPr>
          <p:cNvPr id="9" name="Background agent">
            <a:extLst>
              <a:ext uri="{FF2B5EF4-FFF2-40B4-BE49-F238E27FC236}">
                <a16:creationId xmlns:a16="http://schemas.microsoft.com/office/drawing/2014/main" id="{2FBC029C-46FC-4A93-9791-27B34FCF42AC}"/>
              </a:ext>
            </a:extLst>
          </p:cNvPr>
          <p:cNvSpPr>
            <a:spLocks noGrp="1"/>
          </p:cNvSpPr>
          <p:nvPr/>
        </p:nvSpPr>
        <p:spPr>
          <a:xfrm>
            <a:off x="5857875" y="2524125"/>
            <a:ext cx="2324100" cy="647700"/>
          </a:xfrm>
          <a:prstGeom prst="rect">
            <a:avLst/>
          </a:prstGeom>
          <a:solidFill>
            <a:srgbClr val="ECF5F4"/>
          </a:solidFill>
          <a:ln w="9525">
            <a:solidFill>
              <a:srgbClr val="C7D2D8"/>
            </a:solidFill>
            <a:prstDash val="solid"/>
          </a:ln>
        </p:spPr>
        <p:txBody>
          <a:bodyPr/>
          <a:lstStyle/>
          <a:p>
            <a:endParaRPr/>
          </a:p>
        </p:txBody>
      </p:sp>
      <p:sp>
        <p:nvSpPr>
          <p:cNvPr id="10" name="Background agent">
            <a:extLst>
              <a:ext uri="{FF2B5EF4-FFF2-40B4-BE49-F238E27FC236}">
                <a16:creationId xmlns:a16="http://schemas.microsoft.com/office/drawing/2014/main" id="{9E0C3DAD-3B23-47E7-B4C5-DCD553A0C269}"/>
              </a:ext>
            </a:extLst>
          </p:cNvPr>
          <p:cNvSpPr>
            <a:spLocks noGrp="1"/>
          </p:cNvSpPr>
          <p:nvPr/>
        </p:nvSpPr>
        <p:spPr>
          <a:xfrm>
            <a:off x="5962650" y="2600325"/>
            <a:ext cx="2133600" cy="276225"/>
          </a:xfrm>
          <a:prstGeom prst="rect">
            <a:avLst/>
          </a:prstGeom>
          <a:noFill/>
          <a:ln w="0">
            <a:noFill/>
          </a:ln>
        </p:spPr>
        <p:txBody>
          <a:bodyPr wrap="square" lIns="0" tIns="0" rIns="0" bIns="0" anchor="t">
            <a:noAutofit/>
          </a:bodyPr>
          <a:lstStyle/>
          <a:p>
            <a:pPr algn="l">
              <a:buNone/>
              <a:defRPr sz="1650" b="1">
                <a:solidFill>
                  <a:srgbClr val="183447"/>
                </a:solidFill>
                <a:latin typeface="Arial"/>
                <a:ea typeface="Arial"/>
                <a:cs typeface="Arial"/>
              </a:defRPr>
            </a:pPr>
            <a:r>
              <a:rPr sz="1650" b="1">
                <a:solidFill>
                  <a:srgbClr val="183447"/>
                </a:solidFill>
                <a:latin typeface="Arial"/>
                <a:ea typeface="Arial"/>
                <a:cs typeface="Arial"/>
              </a:rPr>
              <a:t>Background agent</a:t>
            </a:r>
          </a:p>
        </p:txBody>
      </p:sp>
      <p:sp>
        <p:nvSpPr>
          <p:cNvPr id="11" name="warm light + wood">
            <a:extLst>
              <a:ext uri="{FF2B5EF4-FFF2-40B4-BE49-F238E27FC236}">
                <a16:creationId xmlns:a16="http://schemas.microsoft.com/office/drawing/2014/main" id="{41FF3CC6-4615-4BEF-84EA-8E9B4D9FE082}"/>
              </a:ext>
            </a:extLst>
          </p:cNvPr>
          <p:cNvSpPr>
            <a:spLocks noGrp="1"/>
          </p:cNvSpPr>
          <p:nvPr/>
        </p:nvSpPr>
        <p:spPr>
          <a:xfrm>
            <a:off x="5962650" y="2886075"/>
            <a:ext cx="2133600" cy="257175"/>
          </a:xfrm>
          <a:prstGeom prst="rect">
            <a:avLst/>
          </a:prstGeom>
          <a:noFill/>
          <a:ln w="0">
            <a:noFill/>
          </a:ln>
        </p:spPr>
        <p:txBody>
          <a:bodyPr wrap="square" lIns="0" tIns="0" rIns="0" bIns="0" anchor="t">
            <a:noAutofit/>
          </a:bodyPr>
          <a:lstStyle/>
          <a:p>
            <a:pPr algn="l">
              <a:buNone/>
              <a:defRPr sz="1500" b="0">
                <a:solidFill>
                  <a:srgbClr val="536875"/>
                </a:solidFill>
                <a:latin typeface="Arial"/>
                <a:ea typeface="Arial"/>
                <a:cs typeface="Arial"/>
              </a:defRPr>
            </a:pPr>
            <a:r>
              <a:rPr sz="1500" b="0">
                <a:solidFill>
                  <a:srgbClr val="536875"/>
                </a:solidFill>
                <a:latin typeface="Arial"/>
                <a:ea typeface="Arial"/>
                <a:cs typeface="Arial"/>
              </a:rPr>
              <a:t>warm light + wood</a:t>
            </a:r>
          </a:p>
        </p:txBody>
      </p:sp>
      <p:sp>
        <p:nvSpPr>
          <p:cNvPr id="12" name="Action agent">
            <a:extLst>
              <a:ext uri="{FF2B5EF4-FFF2-40B4-BE49-F238E27FC236}">
                <a16:creationId xmlns:a16="http://schemas.microsoft.com/office/drawing/2014/main" id="{1361E49F-15AA-4C9F-8917-1B8826CAA574}"/>
              </a:ext>
            </a:extLst>
          </p:cNvPr>
          <p:cNvSpPr>
            <a:spLocks noGrp="1"/>
          </p:cNvSpPr>
          <p:nvPr/>
        </p:nvSpPr>
        <p:spPr>
          <a:xfrm>
            <a:off x="3333750" y="3343275"/>
            <a:ext cx="2324100" cy="647700"/>
          </a:xfrm>
          <a:prstGeom prst="rect">
            <a:avLst/>
          </a:prstGeom>
          <a:solidFill>
            <a:srgbClr val="ECF5F4"/>
          </a:solidFill>
          <a:ln w="9525">
            <a:solidFill>
              <a:srgbClr val="C7D2D8"/>
            </a:solidFill>
            <a:prstDash val="solid"/>
          </a:ln>
        </p:spPr>
        <p:txBody>
          <a:bodyPr/>
          <a:lstStyle/>
          <a:p>
            <a:endParaRPr/>
          </a:p>
        </p:txBody>
      </p:sp>
      <p:sp>
        <p:nvSpPr>
          <p:cNvPr id="13" name="Action agent">
            <a:extLst>
              <a:ext uri="{FF2B5EF4-FFF2-40B4-BE49-F238E27FC236}">
                <a16:creationId xmlns:a16="http://schemas.microsoft.com/office/drawing/2014/main" id="{F2EF962F-1C84-4740-AFB3-3510ACF5094A}"/>
              </a:ext>
            </a:extLst>
          </p:cNvPr>
          <p:cNvSpPr>
            <a:spLocks noGrp="1"/>
          </p:cNvSpPr>
          <p:nvPr/>
        </p:nvSpPr>
        <p:spPr>
          <a:xfrm>
            <a:off x="3438525" y="3419475"/>
            <a:ext cx="2133600" cy="276225"/>
          </a:xfrm>
          <a:prstGeom prst="rect">
            <a:avLst/>
          </a:prstGeom>
          <a:noFill/>
          <a:ln w="0">
            <a:noFill/>
          </a:ln>
        </p:spPr>
        <p:txBody>
          <a:bodyPr wrap="square" lIns="0" tIns="0" rIns="0" bIns="0" anchor="t">
            <a:noAutofit/>
          </a:bodyPr>
          <a:lstStyle/>
          <a:p>
            <a:pPr algn="l">
              <a:buNone/>
              <a:defRPr sz="1650" b="1">
                <a:solidFill>
                  <a:srgbClr val="183447"/>
                </a:solidFill>
                <a:latin typeface="Arial"/>
                <a:ea typeface="Arial"/>
                <a:cs typeface="Arial"/>
              </a:defRPr>
            </a:pPr>
            <a:r>
              <a:rPr sz="1650" b="1">
                <a:solidFill>
                  <a:srgbClr val="183447"/>
                </a:solidFill>
                <a:latin typeface="Arial"/>
                <a:ea typeface="Arial"/>
                <a:cs typeface="Arial"/>
              </a:rPr>
              <a:t>Action agent</a:t>
            </a:r>
          </a:p>
        </p:txBody>
      </p:sp>
      <p:sp>
        <p:nvSpPr>
          <p:cNvPr id="14" name="prepares drinks">
            <a:extLst>
              <a:ext uri="{FF2B5EF4-FFF2-40B4-BE49-F238E27FC236}">
                <a16:creationId xmlns:a16="http://schemas.microsoft.com/office/drawing/2014/main" id="{6284D74C-EAEC-46DD-A78A-928F4721C018}"/>
              </a:ext>
            </a:extLst>
          </p:cNvPr>
          <p:cNvSpPr>
            <a:spLocks noGrp="1"/>
          </p:cNvSpPr>
          <p:nvPr/>
        </p:nvSpPr>
        <p:spPr>
          <a:xfrm>
            <a:off x="3438525" y="3705225"/>
            <a:ext cx="2133600" cy="257175"/>
          </a:xfrm>
          <a:prstGeom prst="rect">
            <a:avLst/>
          </a:prstGeom>
          <a:noFill/>
          <a:ln w="0">
            <a:noFill/>
          </a:ln>
        </p:spPr>
        <p:txBody>
          <a:bodyPr wrap="square" lIns="0" tIns="0" rIns="0" bIns="0" anchor="t">
            <a:noAutofit/>
          </a:bodyPr>
          <a:lstStyle/>
          <a:p>
            <a:pPr algn="l">
              <a:buNone/>
              <a:defRPr sz="1500" b="0">
                <a:solidFill>
                  <a:srgbClr val="536875"/>
                </a:solidFill>
                <a:latin typeface="Arial"/>
                <a:ea typeface="Arial"/>
                <a:cs typeface="Arial"/>
              </a:defRPr>
            </a:pPr>
            <a:r>
              <a:rPr sz="1500" b="0">
                <a:solidFill>
                  <a:srgbClr val="536875"/>
                </a:solidFill>
                <a:latin typeface="Arial"/>
                <a:ea typeface="Arial"/>
                <a:cs typeface="Arial"/>
              </a:rPr>
              <a:t>prepares drinks</a:t>
            </a:r>
          </a:p>
        </p:txBody>
      </p:sp>
      <p:sp>
        <p:nvSpPr>
          <p:cNvPr id="15" name="Spatial agent">
            <a:extLst>
              <a:ext uri="{FF2B5EF4-FFF2-40B4-BE49-F238E27FC236}">
                <a16:creationId xmlns:a16="http://schemas.microsoft.com/office/drawing/2014/main" id="{23B17505-4003-486C-84E3-A6B275472878}"/>
              </a:ext>
            </a:extLst>
          </p:cNvPr>
          <p:cNvSpPr>
            <a:spLocks noGrp="1"/>
          </p:cNvSpPr>
          <p:nvPr/>
        </p:nvSpPr>
        <p:spPr>
          <a:xfrm>
            <a:off x="5857875" y="3343275"/>
            <a:ext cx="2324100" cy="647700"/>
          </a:xfrm>
          <a:prstGeom prst="rect">
            <a:avLst/>
          </a:prstGeom>
          <a:solidFill>
            <a:srgbClr val="ECF5F4"/>
          </a:solidFill>
          <a:ln w="9525">
            <a:solidFill>
              <a:srgbClr val="C7D2D8"/>
            </a:solidFill>
            <a:prstDash val="solid"/>
          </a:ln>
        </p:spPr>
        <p:txBody>
          <a:bodyPr/>
          <a:lstStyle/>
          <a:p>
            <a:endParaRPr/>
          </a:p>
        </p:txBody>
      </p:sp>
      <p:sp>
        <p:nvSpPr>
          <p:cNvPr id="16" name="Spatial agent">
            <a:extLst>
              <a:ext uri="{FF2B5EF4-FFF2-40B4-BE49-F238E27FC236}">
                <a16:creationId xmlns:a16="http://schemas.microsoft.com/office/drawing/2014/main" id="{12F1FBE2-CC4C-4DFE-89DD-1AAB681E9B51}"/>
              </a:ext>
            </a:extLst>
          </p:cNvPr>
          <p:cNvSpPr>
            <a:spLocks noGrp="1"/>
          </p:cNvSpPr>
          <p:nvPr/>
        </p:nvSpPr>
        <p:spPr>
          <a:xfrm>
            <a:off x="5962650" y="3419475"/>
            <a:ext cx="2133600" cy="276225"/>
          </a:xfrm>
          <a:prstGeom prst="rect">
            <a:avLst/>
          </a:prstGeom>
          <a:noFill/>
          <a:ln w="0">
            <a:noFill/>
          </a:ln>
        </p:spPr>
        <p:txBody>
          <a:bodyPr wrap="square" lIns="0" tIns="0" rIns="0" bIns="0" anchor="t">
            <a:noAutofit/>
          </a:bodyPr>
          <a:lstStyle/>
          <a:p>
            <a:pPr algn="l">
              <a:buNone/>
              <a:defRPr sz="1650" b="1">
                <a:solidFill>
                  <a:srgbClr val="183447"/>
                </a:solidFill>
                <a:latin typeface="Arial"/>
                <a:ea typeface="Arial"/>
                <a:cs typeface="Arial"/>
              </a:defRPr>
            </a:pPr>
            <a:r>
              <a:rPr sz="1650" b="1">
                <a:solidFill>
                  <a:srgbClr val="183447"/>
                </a:solidFill>
                <a:latin typeface="Arial"/>
                <a:ea typeface="Arial"/>
                <a:cs typeface="Arial"/>
              </a:rPr>
              <a:t>Spatial agent</a:t>
            </a:r>
          </a:p>
        </p:txBody>
      </p:sp>
      <p:sp>
        <p:nvSpPr>
          <p:cNvPr id="17" name="drinks on the counter">
            <a:extLst>
              <a:ext uri="{FF2B5EF4-FFF2-40B4-BE49-F238E27FC236}">
                <a16:creationId xmlns:a16="http://schemas.microsoft.com/office/drawing/2014/main" id="{AB46B374-1B75-4D32-9C68-91D49CA51CFC}"/>
              </a:ext>
            </a:extLst>
          </p:cNvPr>
          <p:cNvSpPr>
            <a:spLocks noGrp="1"/>
          </p:cNvSpPr>
          <p:nvPr/>
        </p:nvSpPr>
        <p:spPr>
          <a:xfrm>
            <a:off x="5962650" y="3705225"/>
            <a:ext cx="2133600" cy="257175"/>
          </a:xfrm>
          <a:prstGeom prst="rect">
            <a:avLst/>
          </a:prstGeom>
          <a:noFill/>
          <a:ln w="0">
            <a:noFill/>
          </a:ln>
        </p:spPr>
        <p:txBody>
          <a:bodyPr wrap="square" lIns="0" tIns="0" rIns="0" bIns="0" anchor="t">
            <a:noAutofit/>
          </a:bodyPr>
          <a:lstStyle/>
          <a:p>
            <a:pPr algn="l">
              <a:buNone/>
              <a:defRPr sz="1500" b="0">
                <a:solidFill>
                  <a:srgbClr val="536875"/>
                </a:solidFill>
                <a:latin typeface="Arial"/>
                <a:ea typeface="Arial"/>
                <a:cs typeface="Arial"/>
              </a:defRPr>
            </a:pPr>
            <a:r>
              <a:rPr sz="1500" b="0">
                <a:solidFill>
                  <a:srgbClr val="536875"/>
                </a:solidFill>
                <a:latin typeface="Arial"/>
                <a:ea typeface="Arial"/>
                <a:cs typeface="Arial"/>
              </a:rPr>
              <a:t>drinks on the counter</a:t>
            </a:r>
          </a:p>
        </p:txBody>
      </p:sp>
      <p:sp>
        <p:nvSpPr>
          <p:cNvPr id="18" name="Layout agent">
            <a:extLst>
              <a:ext uri="{FF2B5EF4-FFF2-40B4-BE49-F238E27FC236}">
                <a16:creationId xmlns:a16="http://schemas.microsoft.com/office/drawing/2014/main" id="{883D2D94-0DD4-4E93-A09E-4D3131D813CF}"/>
              </a:ext>
            </a:extLst>
          </p:cNvPr>
          <p:cNvSpPr>
            <a:spLocks noGrp="1"/>
          </p:cNvSpPr>
          <p:nvPr/>
        </p:nvSpPr>
        <p:spPr>
          <a:xfrm>
            <a:off x="3333750" y="4162425"/>
            <a:ext cx="2324100" cy="647700"/>
          </a:xfrm>
          <a:prstGeom prst="rect">
            <a:avLst/>
          </a:prstGeom>
          <a:solidFill>
            <a:srgbClr val="ECF5F4"/>
          </a:solidFill>
          <a:ln w="9525">
            <a:solidFill>
              <a:srgbClr val="C7D2D8"/>
            </a:solidFill>
            <a:prstDash val="solid"/>
          </a:ln>
        </p:spPr>
        <p:txBody>
          <a:bodyPr/>
          <a:lstStyle/>
          <a:p>
            <a:endParaRPr/>
          </a:p>
        </p:txBody>
      </p:sp>
      <p:sp>
        <p:nvSpPr>
          <p:cNvPr id="19" name="Layout agent">
            <a:extLst>
              <a:ext uri="{FF2B5EF4-FFF2-40B4-BE49-F238E27FC236}">
                <a16:creationId xmlns:a16="http://schemas.microsoft.com/office/drawing/2014/main" id="{F9CE2FA0-5BE0-4D22-AA96-5A3690DE1655}"/>
              </a:ext>
            </a:extLst>
          </p:cNvPr>
          <p:cNvSpPr>
            <a:spLocks noGrp="1"/>
          </p:cNvSpPr>
          <p:nvPr/>
        </p:nvSpPr>
        <p:spPr>
          <a:xfrm>
            <a:off x="3438525" y="4238625"/>
            <a:ext cx="2133600" cy="276225"/>
          </a:xfrm>
          <a:prstGeom prst="rect">
            <a:avLst/>
          </a:prstGeom>
          <a:noFill/>
          <a:ln w="0">
            <a:noFill/>
          </a:ln>
        </p:spPr>
        <p:txBody>
          <a:bodyPr wrap="square" lIns="0" tIns="0" rIns="0" bIns="0" anchor="t">
            <a:noAutofit/>
          </a:bodyPr>
          <a:lstStyle/>
          <a:p>
            <a:pPr algn="l">
              <a:buNone/>
              <a:defRPr sz="1650" b="1">
                <a:solidFill>
                  <a:srgbClr val="183447"/>
                </a:solidFill>
                <a:latin typeface="Arial"/>
                <a:ea typeface="Arial"/>
                <a:cs typeface="Arial"/>
              </a:defRPr>
            </a:pPr>
            <a:r>
              <a:rPr sz="1650" b="1">
                <a:solidFill>
                  <a:srgbClr val="183447"/>
                </a:solidFill>
                <a:latin typeface="Arial"/>
                <a:ea typeface="Arial"/>
                <a:cs typeface="Arial"/>
              </a:rPr>
              <a:t>Layout agent</a:t>
            </a:r>
          </a:p>
        </p:txBody>
      </p:sp>
      <p:sp>
        <p:nvSpPr>
          <p:cNvPr id="20" name="boxes + depth order">
            <a:extLst>
              <a:ext uri="{FF2B5EF4-FFF2-40B4-BE49-F238E27FC236}">
                <a16:creationId xmlns:a16="http://schemas.microsoft.com/office/drawing/2014/main" id="{B0D59772-F2C6-4E15-87B9-83B8F568B0D3}"/>
              </a:ext>
            </a:extLst>
          </p:cNvPr>
          <p:cNvSpPr>
            <a:spLocks noGrp="1"/>
          </p:cNvSpPr>
          <p:nvPr/>
        </p:nvSpPr>
        <p:spPr>
          <a:xfrm>
            <a:off x="3438525" y="4524375"/>
            <a:ext cx="2133600" cy="257175"/>
          </a:xfrm>
          <a:prstGeom prst="rect">
            <a:avLst/>
          </a:prstGeom>
          <a:noFill/>
          <a:ln w="0">
            <a:noFill/>
          </a:ln>
        </p:spPr>
        <p:txBody>
          <a:bodyPr wrap="square" lIns="0" tIns="0" rIns="0" bIns="0" anchor="t">
            <a:noAutofit/>
          </a:bodyPr>
          <a:lstStyle/>
          <a:p>
            <a:pPr algn="l">
              <a:buNone/>
              <a:defRPr sz="1500" b="0">
                <a:solidFill>
                  <a:srgbClr val="536875"/>
                </a:solidFill>
                <a:latin typeface="Arial"/>
                <a:ea typeface="Arial"/>
                <a:cs typeface="Arial"/>
              </a:defRPr>
            </a:pPr>
            <a:r>
              <a:rPr sz="1500" b="0">
                <a:solidFill>
                  <a:srgbClr val="536875"/>
                </a:solidFill>
                <a:latin typeface="Arial"/>
                <a:ea typeface="Arial"/>
                <a:cs typeface="Arial"/>
              </a:rPr>
              <a:t>boxes + depth order</a:t>
            </a:r>
          </a:p>
        </p:txBody>
      </p:sp>
      <p:sp>
        <p:nvSpPr>
          <p:cNvPr id="21" name="Aesthetics agent">
            <a:extLst>
              <a:ext uri="{FF2B5EF4-FFF2-40B4-BE49-F238E27FC236}">
                <a16:creationId xmlns:a16="http://schemas.microsoft.com/office/drawing/2014/main" id="{88511E29-2D97-416E-BCC7-18E40956765B}"/>
              </a:ext>
            </a:extLst>
          </p:cNvPr>
          <p:cNvSpPr>
            <a:spLocks noGrp="1"/>
          </p:cNvSpPr>
          <p:nvPr/>
        </p:nvSpPr>
        <p:spPr>
          <a:xfrm>
            <a:off x="5857875" y="4162425"/>
            <a:ext cx="2324100" cy="647700"/>
          </a:xfrm>
          <a:prstGeom prst="rect">
            <a:avLst/>
          </a:prstGeom>
          <a:solidFill>
            <a:srgbClr val="ECF5F4"/>
          </a:solidFill>
          <a:ln w="9525">
            <a:solidFill>
              <a:srgbClr val="C7D2D8"/>
            </a:solidFill>
            <a:prstDash val="solid"/>
          </a:ln>
        </p:spPr>
        <p:txBody>
          <a:bodyPr/>
          <a:lstStyle/>
          <a:p>
            <a:endParaRPr/>
          </a:p>
        </p:txBody>
      </p:sp>
      <p:sp>
        <p:nvSpPr>
          <p:cNvPr id="22" name="Aesthetics agent">
            <a:extLst>
              <a:ext uri="{FF2B5EF4-FFF2-40B4-BE49-F238E27FC236}">
                <a16:creationId xmlns:a16="http://schemas.microsoft.com/office/drawing/2014/main" id="{7593DBBF-E97D-4F68-9811-335C5166AB68}"/>
              </a:ext>
            </a:extLst>
          </p:cNvPr>
          <p:cNvSpPr>
            <a:spLocks noGrp="1"/>
          </p:cNvSpPr>
          <p:nvPr/>
        </p:nvSpPr>
        <p:spPr>
          <a:xfrm>
            <a:off x="5962650" y="4238625"/>
            <a:ext cx="2133600" cy="276225"/>
          </a:xfrm>
          <a:prstGeom prst="rect">
            <a:avLst/>
          </a:prstGeom>
          <a:noFill/>
          <a:ln w="0">
            <a:noFill/>
          </a:ln>
        </p:spPr>
        <p:txBody>
          <a:bodyPr wrap="square" lIns="0" tIns="0" rIns="0" bIns="0" anchor="t">
            <a:noAutofit/>
          </a:bodyPr>
          <a:lstStyle/>
          <a:p>
            <a:pPr algn="l">
              <a:buNone/>
              <a:defRPr sz="1650" b="1">
                <a:solidFill>
                  <a:srgbClr val="183447"/>
                </a:solidFill>
                <a:latin typeface="Arial"/>
                <a:ea typeface="Arial"/>
                <a:cs typeface="Arial"/>
              </a:defRPr>
            </a:pPr>
            <a:r>
              <a:rPr sz="1650" b="1">
                <a:solidFill>
                  <a:srgbClr val="183447"/>
                </a:solidFill>
                <a:latin typeface="Arial"/>
                <a:ea typeface="Arial"/>
                <a:cs typeface="Arial"/>
              </a:rPr>
              <a:t>Appearance agent</a:t>
            </a:r>
          </a:p>
        </p:txBody>
      </p:sp>
      <p:sp>
        <p:nvSpPr>
          <p:cNvPr id="23" name="uniform, colorful drinks">
            <a:extLst>
              <a:ext uri="{FF2B5EF4-FFF2-40B4-BE49-F238E27FC236}">
                <a16:creationId xmlns:a16="http://schemas.microsoft.com/office/drawing/2014/main" id="{B2C1D392-985C-45F0-B933-4B6FCCB27A7D}"/>
              </a:ext>
            </a:extLst>
          </p:cNvPr>
          <p:cNvSpPr>
            <a:spLocks noGrp="1"/>
          </p:cNvSpPr>
          <p:nvPr/>
        </p:nvSpPr>
        <p:spPr>
          <a:xfrm>
            <a:off x="5962650" y="4524375"/>
            <a:ext cx="2133600" cy="257175"/>
          </a:xfrm>
          <a:prstGeom prst="rect">
            <a:avLst/>
          </a:prstGeom>
          <a:noFill/>
          <a:ln w="0">
            <a:noFill/>
          </a:ln>
        </p:spPr>
        <p:txBody>
          <a:bodyPr wrap="square" lIns="0" tIns="0" rIns="0" bIns="0" anchor="t">
            <a:noAutofit/>
          </a:bodyPr>
          <a:lstStyle/>
          <a:p>
            <a:pPr algn="l">
              <a:buNone/>
              <a:defRPr sz="1500" b="0">
                <a:solidFill>
                  <a:srgbClr val="536875"/>
                </a:solidFill>
                <a:latin typeface="Arial"/>
                <a:ea typeface="Arial"/>
                <a:cs typeface="Arial"/>
              </a:defRPr>
            </a:pPr>
            <a:r>
              <a:rPr sz="1500" b="0">
                <a:solidFill>
                  <a:srgbClr val="536875"/>
                </a:solidFill>
                <a:latin typeface="Arial"/>
                <a:ea typeface="Arial"/>
                <a:cs typeface="Arial"/>
              </a:rPr>
              <a:t>uniform, colorful drinks</a:t>
            </a:r>
          </a:p>
        </p:txBody>
      </p:sp>
      <p:sp>
        <p:nvSpPr>
          <p:cNvPr id="24" name="Conductor">
            <a:extLst>
              <a:ext uri="{FF2B5EF4-FFF2-40B4-BE49-F238E27FC236}">
                <a16:creationId xmlns:a16="http://schemas.microsoft.com/office/drawing/2014/main" id="{9EF3A104-3414-4056-9AF0-B953568C95AA}"/>
              </a:ext>
            </a:extLst>
          </p:cNvPr>
          <p:cNvSpPr>
            <a:spLocks noGrp="1"/>
          </p:cNvSpPr>
          <p:nvPr/>
        </p:nvSpPr>
        <p:spPr>
          <a:xfrm>
            <a:off x="628650" y="3028950"/>
            <a:ext cx="2105025" cy="1000125"/>
          </a:xfrm>
          <a:prstGeom prst="rect">
            <a:avLst/>
          </a:prstGeom>
          <a:solidFill>
            <a:srgbClr val="183447"/>
          </a:solidFill>
          <a:ln w="14288">
            <a:solidFill>
              <a:srgbClr val="183447"/>
            </a:solidFill>
            <a:prstDash val="solid"/>
          </a:ln>
        </p:spPr>
        <p:txBody>
          <a:bodyPr/>
          <a:lstStyle/>
          <a:p>
            <a:endParaRPr/>
          </a:p>
        </p:txBody>
      </p:sp>
      <p:sp>
        <p:nvSpPr>
          <p:cNvPr id="25" name="Conductor">
            <a:extLst>
              <a:ext uri="{FF2B5EF4-FFF2-40B4-BE49-F238E27FC236}">
                <a16:creationId xmlns:a16="http://schemas.microsoft.com/office/drawing/2014/main" id="{0CE94DA1-1E1D-4405-9E9C-9158A34DA0AD}"/>
              </a:ext>
            </a:extLst>
          </p:cNvPr>
          <p:cNvSpPr>
            <a:spLocks noGrp="1"/>
          </p:cNvSpPr>
          <p:nvPr/>
        </p:nvSpPr>
        <p:spPr>
          <a:xfrm>
            <a:off x="742950" y="3133725"/>
            <a:ext cx="1876425" cy="295275"/>
          </a:xfrm>
          <a:prstGeom prst="rect">
            <a:avLst/>
          </a:prstGeom>
          <a:noFill/>
          <a:ln w="0">
            <a:noFill/>
          </a:ln>
        </p:spPr>
        <p:txBody>
          <a:bodyPr wrap="square" lIns="0" tIns="0" rIns="0" bIns="0" anchor="t">
            <a:noAutofit/>
          </a:bodyPr>
          <a:lstStyle/>
          <a:p>
            <a:pPr algn="l">
              <a:buNone/>
              <a:defRPr sz="1800" b="1">
                <a:solidFill>
                  <a:srgbClr val="FFFFFF"/>
                </a:solidFill>
                <a:latin typeface="Arial"/>
                <a:ea typeface="Arial"/>
                <a:cs typeface="Arial"/>
              </a:defRPr>
            </a:pPr>
            <a:r>
              <a:rPr sz="1800" b="1">
                <a:solidFill>
                  <a:srgbClr val="FFFFFF"/>
                </a:solidFill>
                <a:latin typeface="Arial"/>
                <a:ea typeface="Arial"/>
                <a:cs typeface="Arial"/>
              </a:rPr>
              <a:t>Conductor</a:t>
            </a:r>
          </a:p>
        </p:txBody>
      </p:sp>
      <p:sp>
        <p:nvSpPr>
          <p:cNvPr id="26" name="chooses the next agent">
            <a:extLst>
              <a:ext uri="{FF2B5EF4-FFF2-40B4-BE49-F238E27FC236}">
                <a16:creationId xmlns:a16="http://schemas.microsoft.com/office/drawing/2014/main" id="{B00B4511-2B69-4AAB-B7CD-F8442BF6C2E0}"/>
              </a:ext>
            </a:extLst>
          </p:cNvPr>
          <p:cNvSpPr>
            <a:spLocks noGrp="1"/>
          </p:cNvSpPr>
          <p:nvPr/>
        </p:nvSpPr>
        <p:spPr>
          <a:xfrm>
            <a:off x="742950" y="3457575"/>
            <a:ext cx="1876425" cy="533400"/>
          </a:xfrm>
          <a:prstGeom prst="rect">
            <a:avLst/>
          </a:prstGeom>
          <a:noFill/>
          <a:ln w="0">
            <a:noFill/>
          </a:ln>
        </p:spPr>
        <p:txBody>
          <a:bodyPr wrap="square" lIns="0" tIns="0" rIns="0" bIns="0" anchor="t">
            <a:noAutofit/>
          </a:bodyPr>
          <a:lstStyle/>
          <a:p>
            <a:pPr algn="l">
              <a:buNone/>
              <a:defRPr sz="1500" b="0">
                <a:solidFill>
                  <a:srgbClr val="FFFFFF"/>
                </a:solidFill>
                <a:latin typeface="Arial"/>
                <a:ea typeface="Arial"/>
                <a:cs typeface="Arial"/>
              </a:defRPr>
            </a:pPr>
            <a:r>
              <a:rPr sz="1500" b="0">
                <a:solidFill>
                  <a:srgbClr val="FFFFFF"/>
                </a:solidFill>
                <a:latin typeface="Arial"/>
                <a:ea typeface="Arial"/>
                <a:cs typeface="Arial"/>
              </a:rPr>
              <a:t>chooses the next agent</a:t>
            </a:r>
          </a:p>
        </p:txBody>
      </p:sp>
      <p:sp>
        <p:nvSpPr>
          <p:cNvPr id="27" name="Original prompt">
            <a:extLst>
              <a:ext uri="{FF2B5EF4-FFF2-40B4-BE49-F238E27FC236}">
                <a16:creationId xmlns:a16="http://schemas.microsoft.com/office/drawing/2014/main" id="{23A9E243-9386-4F0D-8E9B-2C5FCB71B3A1}"/>
              </a:ext>
            </a:extLst>
          </p:cNvPr>
          <p:cNvSpPr>
            <a:spLocks noGrp="1"/>
          </p:cNvSpPr>
          <p:nvPr/>
        </p:nvSpPr>
        <p:spPr>
          <a:xfrm>
            <a:off x="628650" y="1971675"/>
            <a:ext cx="2152650" cy="323850"/>
          </a:xfrm>
          <a:prstGeom prst="rect">
            <a:avLst/>
          </a:prstGeom>
          <a:noFill/>
          <a:ln w="0">
            <a:noFill/>
          </a:ln>
        </p:spPr>
        <p:txBody>
          <a:bodyPr wrap="square" lIns="0" tIns="0" rIns="0" bIns="0" anchor="t">
            <a:noAutofit/>
          </a:bodyPr>
          <a:lstStyle/>
          <a:p>
            <a:pPr algn="l">
              <a:buNone/>
              <a:defRPr sz="1875" b="1">
                <a:solidFill>
                  <a:srgbClr val="183447"/>
                </a:solidFill>
                <a:latin typeface="Arial"/>
                <a:ea typeface="Arial"/>
                <a:cs typeface="Arial"/>
              </a:defRPr>
            </a:pPr>
            <a:r>
              <a:rPr sz="1875" b="1">
                <a:solidFill>
                  <a:srgbClr val="183447"/>
                </a:solidFill>
                <a:latin typeface="Arial"/>
                <a:ea typeface="Arial"/>
                <a:cs typeface="Arial"/>
              </a:rPr>
              <a:t>Original prompt</a:t>
            </a:r>
          </a:p>
        </p:txBody>
      </p:sp>
      <p:sp>
        <p:nvSpPr>
          <p:cNvPr id="28" name="connector start">
            <a:extLst>
              <a:ext uri="{FF2B5EF4-FFF2-40B4-BE49-F238E27FC236}">
                <a16:creationId xmlns:a16="http://schemas.microsoft.com/office/drawing/2014/main" id="{0386BCCB-92A1-459E-BD71-E274785C3CD2}"/>
              </a:ext>
            </a:extLst>
          </p:cNvPr>
          <p:cNvSpPr>
            <a:spLocks noGrp="1"/>
          </p:cNvSpPr>
          <p:nvPr/>
        </p:nvSpPr>
        <p:spPr>
          <a:xfrm>
            <a:off x="1675448" y="2399348"/>
            <a:ext cx="1905" cy="1905"/>
          </a:xfrm>
          <a:prstGeom prst="rect">
            <a:avLst/>
          </a:prstGeom>
          <a:noFill/>
          <a:ln w="0">
            <a:noFill/>
            <a:prstDash val="solid"/>
          </a:ln>
        </p:spPr>
        <p:txBody>
          <a:bodyPr/>
          <a:lstStyle/>
          <a:p>
            <a:endParaRPr/>
          </a:p>
        </p:txBody>
      </p:sp>
      <p:sp>
        <p:nvSpPr>
          <p:cNvPr id="29" name="connector end">
            <a:extLst>
              <a:ext uri="{FF2B5EF4-FFF2-40B4-BE49-F238E27FC236}">
                <a16:creationId xmlns:a16="http://schemas.microsoft.com/office/drawing/2014/main" id="{439C73E2-8569-4BF7-A511-275E0E7F63A9}"/>
              </a:ext>
            </a:extLst>
          </p:cNvPr>
          <p:cNvSpPr>
            <a:spLocks noGrp="1"/>
          </p:cNvSpPr>
          <p:nvPr/>
        </p:nvSpPr>
        <p:spPr>
          <a:xfrm>
            <a:off x="1675448" y="3027998"/>
            <a:ext cx="1905" cy="1905"/>
          </a:xfrm>
          <a:prstGeom prst="rect">
            <a:avLst/>
          </a:prstGeom>
          <a:noFill/>
          <a:ln w="0">
            <a:noFill/>
            <a:prstDash val="solid"/>
          </a:ln>
        </p:spPr>
        <p:txBody>
          <a:bodyPr/>
          <a:lstStyle/>
          <a:p>
            <a:endParaRPr/>
          </a:p>
        </p:txBody>
      </p:sp>
      <p:cxnSp>
        <p:nvCxnSpPr>
          <p:cNvPr id="458" name="Straight Arrow Connector 117"/>
          <p:cNvCxnSpPr>
            <a:stCxn id="28" idx="2"/>
            <a:endCxn id="29" idx="0"/>
          </p:cNvCxnSpPr>
          <p:nvPr/>
        </p:nvCxnSpPr>
        <p:spPr>
          <a:xfrm>
            <a:off x="1676401" y="2401253"/>
            <a:ext cx="0" cy="626745"/>
          </a:xfrm>
          <a:prstGeom prst="straightConnector1">
            <a:avLst/>
          </a:prstGeom>
          <a:ln w="23813">
            <a:solidFill>
              <a:srgbClr val="183447"/>
            </a:solidFill>
            <a:prstDash val="solid"/>
            <a:tailEnd type="triangle" w="med" len="med"/>
          </a:ln>
        </p:spPr>
      </p:cxnSp>
      <p:sp>
        <p:nvSpPr>
          <p:cNvPr id="31" name="connector start">
            <a:extLst>
              <a:ext uri="{FF2B5EF4-FFF2-40B4-BE49-F238E27FC236}">
                <a16:creationId xmlns:a16="http://schemas.microsoft.com/office/drawing/2014/main" id="{D1985FA5-EF5D-478E-B89C-93099BEF50C3}"/>
              </a:ext>
            </a:extLst>
          </p:cNvPr>
          <p:cNvSpPr>
            <a:spLocks noGrp="1"/>
          </p:cNvSpPr>
          <p:nvPr/>
        </p:nvSpPr>
        <p:spPr>
          <a:xfrm>
            <a:off x="2732723" y="3532823"/>
            <a:ext cx="1905" cy="1905"/>
          </a:xfrm>
          <a:prstGeom prst="rect">
            <a:avLst/>
          </a:prstGeom>
          <a:noFill/>
          <a:ln w="0">
            <a:noFill/>
            <a:prstDash val="solid"/>
          </a:ln>
        </p:spPr>
        <p:txBody>
          <a:bodyPr/>
          <a:lstStyle/>
          <a:p>
            <a:endParaRPr/>
          </a:p>
        </p:txBody>
      </p:sp>
      <p:sp>
        <p:nvSpPr>
          <p:cNvPr id="32" name="connector end">
            <a:extLst>
              <a:ext uri="{FF2B5EF4-FFF2-40B4-BE49-F238E27FC236}">
                <a16:creationId xmlns:a16="http://schemas.microsoft.com/office/drawing/2014/main" id="{C2A4F138-FFAA-4EB3-A559-30EB60BEAAE8}"/>
              </a:ext>
            </a:extLst>
          </p:cNvPr>
          <p:cNvSpPr>
            <a:spLocks noGrp="1"/>
          </p:cNvSpPr>
          <p:nvPr/>
        </p:nvSpPr>
        <p:spPr>
          <a:xfrm>
            <a:off x="3151823" y="3532823"/>
            <a:ext cx="1905" cy="1905"/>
          </a:xfrm>
          <a:prstGeom prst="rect">
            <a:avLst/>
          </a:prstGeom>
          <a:noFill/>
          <a:ln w="0">
            <a:noFill/>
            <a:prstDash val="solid"/>
          </a:ln>
        </p:spPr>
        <p:txBody>
          <a:bodyPr/>
          <a:lstStyle/>
          <a:p>
            <a:endParaRPr/>
          </a:p>
        </p:txBody>
      </p:sp>
      <p:cxnSp>
        <p:nvCxnSpPr>
          <p:cNvPr id="461" name="Straight Arrow Connector 120"/>
          <p:cNvCxnSpPr>
            <a:stCxn id="31" idx="3"/>
            <a:endCxn id="32" idx="1"/>
          </p:cNvCxnSpPr>
          <p:nvPr/>
        </p:nvCxnSpPr>
        <p:spPr>
          <a:xfrm>
            <a:off x="2734628" y="3533776"/>
            <a:ext cx="417195" cy="0"/>
          </a:xfrm>
          <a:prstGeom prst="straightConnector1">
            <a:avLst/>
          </a:prstGeom>
          <a:ln w="23813">
            <a:solidFill>
              <a:srgbClr val="117F85"/>
            </a:solidFill>
            <a:prstDash val="solid"/>
            <a:tailEnd type="triangle" w="med" len="med"/>
          </a:ln>
        </p:spPr>
      </p:cxnSp>
      <p:sp>
        <p:nvSpPr>
          <p:cNvPr id="34" name="select&#10;one">
            <a:extLst>
              <a:ext uri="{FF2B5EF4-FFF2-40B4-BE49-F238E27FC236}">
                <a16:creationId xmlns:a16="http://schemas.microsoft.com/office/drawing/2014/main" id="{4DE1AB07-4585-4854-A385-11A154ACE1B3}"/>
              </a:ext>
            </a:extLst>
          </p:cNvPr>
          <p:cNvSpPr>
            <a:spLocks noGrp="1"/>
          </p:cNvSpPr>
          <p:nvPr/>
        </p:nvSpPr>
        <p:spPr>
          <a:xfrm>
            <a:off x="2733675" y="3086100"/>
            <a:ext cx="552450" cy="438150"/>
          </a:xfrm>
          <a:prstGeom prst="rect">
            <a:avLst/>
          </a:prstGeom>
          <a:noFill/>
          <a:ln w="0">
            <a:noFill/>
          </a:ln>
        </p:spPr>
        <p:txBody>
          <a:bodyPr wrap="square" lIns="0" tIns="0" rIns="0" bIns="0" anchor="t">
            <a:noAutofit/>
          </a:bodyPr>
          <a:lstStyle/>
          <a:p>
            <a:pPr algn="l">
              <a:buNone/>
              <a:defRPr sz="1275" b="0">
                <a:solidFill>
                  <a:srgbClr val="117F85"/>
                </a:solidFill>
                <a:latin typeface="Arial"/>
                <a:ea typeface="Arial"/>
                <a:cs typeface="Arial"/>
              </a:defRPr>
            </a:pPr>
            <a:r>
              <a:rPr sz="1275" b="0">
                <a:solidFill>
                  <a:srgbClr val="117F85"/>
                </a:solidFill>
                <a:latin typeface="Arial"/>
                <a:ea typeface="Arial"/>
                <a:cs typeface="Arial"/>
              </a:rPr>
              <a:t>select</a:t>
            </a:r>
          </a:p>
          <a:p>
            <a:pPr algn="l">
              <a:buNone/>
              <a:defRPr sz="1275" b="0">
                <a:solidFill>
                  <a:srgbClr val="117F85"/>
                </a:solidFill>
                <a:latin typeface="Arial"/>
                <a:ea typeface="Arial"/>
                <a:cs typeface="Arial"/>
              </a:defRPr>
            </a:pPr>
            <a:r>
              <a:rPr sz="1275" b="0">
                <a:solidFill>
                  <a:srgbClr val="117F85"/>
                </a:solidFill>
                <a:latin typeface="Arial"/>
                <a:ea typeface="Arial"/>
                <a:cs typeface="Arial"/>
              </a:rPr>
              <a:t>one</a:t>
            </a:r>
          </a:p>
        </p:txBody>
      </p:sp>
      <p:sp>
        <p:nvSpPr>
          <p:cNvPr id="35" name="Shared results">
            <a:extLst>
              <a:ext uri="{FF2B5EF4-FFF2-40B4-BE49-F238E27FC236}">
                <a16:creationId xmlns:a16="http://schemas.microsoft.com/office/drawing/2014/main" id="{DFC2B19E-345A-484F-BFA3-95A54F36707E}"/>
              </a:ext>
            </a:extLst>
          </p:cNvPr>
          <p:cNvSpPr>
            <a:spLocks noGrp="1"/>
          </p:cNvSpPr>
          <p:nvPr/>
        </p:nvSpPr>
        <p:spPr>
          <a:xfrm>
            <a:off x="3305175" y="5276850"/>
            <a:ext cx="4914900" cy="628650"/>
          </a:xfrm>
          <a:prstGeom prst="rect">
            <a:avLst/>
          </a:prstGeom>
          <a:solidFill>
            <a:srgbClr val="ECF5F4"/>
          </a:solidFill>
          <a:ln w="14288">
            <a:solidFill>
              <a:srgbClr val="117F85"/>
            </a:solidFill>
            <a:prstDash val="solid"/>
          </a:ln>
        </p:spPr>
        <p:txBody>
          <a:bodyPr/>
          <a:lstStyle/>
          <a:p>
            <a:endParaRPr/>
          </a:p>
        </p:txBody>
      </p:sp>
      <p:sp>
        <p:nvSpPr>
          <p:cNvPr id="36" name="Shared results">
            <a:extLst>
              <a:ext uri="{FF2B5EF4-FFF2-40B4-BE49-F238E27FC236}">
                <a16:creationId xmlns:a16="http://schemas.microsoft.com/office/drawing/2014/main" id="{E0A521D8-D821-46C9-A5E0-E870837395A3}"/>
              </a:ext>
            </a:extLst>
          </p:cNvPr>
          <p:cNvSpPr>
            <a:spLocks noGrp="1"/>
          </p:cNvSpPr>
          <p:nvPr/>
        </p:nvSpPr>
        <p:spPr>
          <a:xfrm>
            <a:off x="3419475" y="5381625"/>
            <a:ext cx="4686300" cy="295275"/>
          </a:xfrm>
          <a:prstGeom prst="rect">
            <a:avLst/>
          </a:prstGeom>
          <a:noFill/>
          <a:ln w="0">
            <a:noFill/>
          </a:ln>
        </p:spPr>
        <p:txBody>
          <a:bodyPr wrap="square" lIns="0" tIns="0" rIns="0" bIns="0" anchor="t">
            <a:noAutofit/>
          </a:bodyPr>
          <a:lstStyle/>
          <a:p>
            <a:pPr algn="l">
              <a:buNone/>
              <a:defRPr sz="1800" b="1">
                <a:solidFill>
                  <a:srgbClr val="183447"/>
                </a:solidFill>
                <a:latin typeface="Arial"/>
                <a:ea typeface="Arial"/>
                <a:cs typeface="Arial"/>
              </a:defRPr>
            </a:pPr>
            <a:r>
              <a:rPr sz="1800" b="1">
                <a:solidFill>
                  <a:srgbClr val="183447"/>
                </a:solidFill>
                <a:latin typeface="Arial"/>
                <a:ea typeface="Arial"/>
                <a:cs typeface="Arial"/>
              </a:rPr>
              <a:t>Shared results</a:t>
            </a:r>
          </a:p>
        </p:txBody>
      </p:sp>
      <p:sp>
        <p:nvSpPr>
          <p:cNvPr id="37" name="All roles read the prompt + earlier outputs">
            <a:extLst>
              <a:ext uri="{FF2B5EF4-FFF2-40B4-BE49-F238E27FC236}">
                <a16:creationId xmlns:a16="http://schemas.microsoft.com/office/drawing/2014/main" id="{5CC16DCF-024D-4B2B-A41C-C75C530A8DBC}"/>
              </a:ext>
            </a:extLst>
          </p:cNvPr>
          <p:cNvSpPr>
            <a:spLocks noGrp="1"/>
          </p:cNvSpPr>
          <p:nvPr/>
        </p:nvSpPr>
        <p:spPr>
          <a:xfrm>
            <a:off x="3429000" y="5619750"/>
            <a:ext cx="4667250" cy="266700"/>
          </a:xfrm>
          <a:prstGeom prst="rect">
            <a:avLst/>
          </a:prstGeom>
          <a:noFill/>
          <a:ln w="0">
            <a:noFill/>
          </a:ln>
        </p:spPr>
        <p:txBody>
          <a:bodyPr wrap="square" lIns="0" tIns="0" rIns="0" bIns="0" anchor="t">
            <a:noAutofit/>
          </a:bodyPr>
          <a:lstStyle/>
          <a:p>
            <a:pPr algn="l">
              <a:buNone/>
              <a:defRPr sz="1500" b="0">
                <a:solidFill>
                  <a:srgbClr val="536875"/>
                </a:solidFill>
                <a:latin typeface="Arial"/>
                <a:ea typeface="Arial"/>
                <a:cs typeface="Arial"/>
              </a:defRPr>
            </a:pPr>
            <a:r>
              <a:rPr sz="1500" b="0">
                <a:solidFill>
                  <a:srgbClr val="536875"/>
                </a:solidFill>
                <a:latin typeface="Arial"/>
                <a:ea typeface="Arial"/>
                <a:cs typeface="Arial"/>
              </a:rPr>
              <a:t>All roles read the prompt + earlier outputs</a:t>
            </a:r>
          </a:p>
        </p:txBody>
      </p:sp>
      <p:sp>
        <p:nvSpPr>
          <p:cNvPr id="38" name="connector start">
            <a:extLst>
              <a:ext uri="{FF2B5EF4-FFF2-40B4-BE49-F238E27FC236}">
                <a16:creationId xmlns:a16="http://schemas.microsoft.com/office/drawing/2014/main" id="{7B6B0DF8-4C9B-4FB1-92A7-5F9FD7B9F472}"/>
              </a:ext>
            </a:extLst>
          </p:cNvPr>
          <p:cNvSpPr>
            <a:spLocks noGrp="1"/>
          </p:cNvSpPr>
          <p:nvPr/>
        </p:nvSpPr>
        <p:spPr>
          <a:xfrm>
            <a:off x="5752148" y="4942523"/>
            <a:ext cx="1905" cy="1905"/>
          </a:xfrm>
          <a:prstGeom prst="rect">
            <a:avLst/>
          </a:prstGeom>
          <a:noFill/>
          <a:ln w="0">
            <a:noFill/>
            <a:prstDash val="solid"/>
          </a:ln>
        </p:spPr>
        <p:txBody>
          <a:bodyPr/>
          <a:lstStyle/>
          <a:p>
            <a:endParaRPr/>
          </a:p>
        </p:txBody>
      </p:sp>
      <p:sp>
        <p:nvSpPr>
          <p:cNvPr id="39" name="connector end">
            <a:extLst>
              <a:ext uri="{FF2B5EF4-FFF2-40B4-BE49-F238E27FC236}">
                <a16:creationId xmlns:a16="http://schemas.microsoft.com/office/drawing/2014/main" id="{27ED58C1-02B9-4323-AC90-B75221F137FF}"/>
              </a:ext>
            </a:extLst>
          </p:cNvPr>
          <p:cNvSpPr>
            <a:spLocks noGrp="1"/>
          </p:cNvSpPr>
          <p:nvPr/>
        </p:nvSpPr>
        <p:spPr>
          <a:xfrm>
            <a:off x="5752148" y="5275898"/>
            <a:ext cx="1905" cy="1905"/>
          </a:xfrm>
          <a:prstGeom prst="rect">
            <a:avLst/>
          </a:prstGeom>
          <a:noFill/>
          <a:ln w="0">
            <a:noFill/>
            <a:prstDash val="solid"/>
          </a:ln>
        </p:spPr>
        <p:txBody>
          <a:bodyPr/>
          <a:lstStyle/>
          <a:p>
            <a:endParaRPr/>
          </a:p>
        </p:txBody>
      </p:sp>
      <p:cxnSp>
        <p:nvCxnSpPr>
          <p:cNvPr id="468" name="Straight Arrow Connector 127"/>
          <p:cNvCxnSpPr>
            <a:stCxn id="38" idx="2"/>
            <a:endCxn id="39" idx="0"/>
          </p:cNvCxnSpPr>
          <p:nvPr/>
        </p:nvCxnSpPr>
        <p:spPr>
          <a:xfrm>
            <a:off x="5753101" y="4944428"/>
            <a:ext cx="0" cy="331470"/>
          </a:xfrm>
          <a:prstGeom prst="straightConnector1">
            <a:avLst/>
          </a:prstGeom>
          <a:ln w="23813">
            <a:solidFill>
              <a:srgbClr val="117F85"/>
            </a:solidFill>
            <a:prstDash val="solid"/>
            <a:tailEnd type="triangle" w="med" len="med"/>
          </a:ln>
        </p:spPr>
      </p:cxnSp>
      <p:sp>
        <p:nvSpPr>
          <p:cNvPr id="41" name="add output">
            <a:extLst>
              <a:ext uri="{FF2B5EF4-FFF2-40B4-BE49-F238E27FC236}">
                <a16:creationId xmlns:a16="http://schemas.microsoft.com/office/drawing/2014/main" id="{FFB795CF-B7A7-4B33-96BD-6D4D56F800A3}"/>
              </a:ext>
            </a:extLst>
          </p:cNvPr>
          <p:cNvSpPr>
            <a:spLocks noGrp="1"/>
          </p:cNvSpPr>
          <p:nvPr/>
        </p:nvSpPr>
        <p:spPr>
          <a:xfrm>
            <a:off x="5953125" y="4981575"/>
            <a:ext cx="1571625" cy="257175"/>
          </a:xfrm>
          <a:prstGeom prst="rect">
            <a:avLst/>
          </a:prstGeom>
          <a:noFill/>
          <a:ln w="0">
            <a:noFill/>
          </a:ln>
        </p:spPr>
        <p:txBody>
          <a:bodyPr wrap="square" lIns="0" tIns="0" rIns="0" bIns="0" anchor="t">
            <a:noAutofit/>
          </a:bodyPr>
          <a:lstStyle/>
          <a:p>
            <a:pPr algn="l">
              <a:buNone/>
              <a:defRPr sz="1350" b="0">
                <a:solidFill>
                  <a:srgbClr val="117F85"/>
                </a:solidFill>
                <a:latin typeface="Arial"/>
                <a:ea typeface="Arial"/>
                <a:cs typeface="Arial"/>
              </a:defRPr>
            </a:pPr>
            <a:r>
              <a:rPr sz="1350" b="0">
                <a:solidFill>
                  <a:srgbClr val="117F85"/>
                </a:solidFill>
                <a:latin typeface="Arial"/>
                <a:ea typeface="Arial"/>
                <a:cs typeface="Arial"/>
              </a:rPr>
              <a:t>add output</a:t>
            </a:r>
          </a:p>
        </p:txBody>
      </p:sp>
      <p:sp>
        <p:nvSpPr>
          <p:cNvPr id="42" name="connector start">
            <a:extLst>
              <a:ext uri="{FF2B5EF4-FFF2-40B4-BE49-F238E27FC236}">
                <a16:creationId xmlns:a16="http://schemas.microsoft.com/office/drawing/2014/main" id="{CC4CA397-1209-4FAF-B29B-24EC3B3ED8BF}"/>
              </a:ext>
            </a:extLst>
          </p:cNvPr>
          <p:cNvSpPr>
            <a:spLocks noGrp="1"/>
          </p:cNvSpPr>
          <p:nvPr/>
        </p:nvSpPr>
        <p:spPr>
          <a:xfrm>
            <a:off x="3304223" y="5590223"/>
            <a:ext cx="1905" cy="1905"/>
          </a:xfrm>
          <a:prstGeom prst="rect">
            <a:avLst/>
          </a:prstGeom>
          <a:noFill/>
          <a:ln w="0">
            <a:noFill/>
            <a:prstDash val="solid"/>
          </a:ln>
        </p:spPr>
        <p:txBody>
          <a:bodyPr/>
          <a:lstStyle/>
          <a:p>
            <a:endParaRPr/>
          </a:p>
        </p:txBody>
      </p:sp>
      <p:sp>
        <p:nvSpPr>
          <p:cNvPr id="43" name="connector end">
            <a:extLst>
              <a:ext uri="{FF2B5EF4-FFF2-40B4-BE49-F238E27FC236}">
                <a16:creationId xmlns:a16="http://schemas.microsoft.com/office/drawing/2014/main" id="{2A3754B4-28D6-491D-8492-70E793A11F36}"/>
              </a:ext>
            </a:extLst>
          </p:cNvPr>
          <p:cNvSpPr>
            <a:spLocks noGrp="1"/>
          </p:cNvSpPr>
          <p:nvPr/>
        </p:nvSpPr>
        <p:spPr>
          <a:xfrm>
            <a:off x="1675448" y="5590223"/>
            <a:ext cx="1905" cy="1905"/>
          </a:xfrm>
          <a:prstGeom prst="rect">
            <a:avLst/>
          </a:prstGeom>
          <a:noFill/>
          <a:ln w="0">
            <a:noFill/>
            <a:prstDash val="solid"/>
          </a:ln>
        </p:spPr>
        <p:txBody>
          <a:bodyPr/>
          <a:lstStyle/>
          <a:p>
            <a:endParaRPr/>
          </a:p>
        </p:txBody>
      </p:sp>
      <p:cxnSp>
        <p:nvCxnSpPr>
          <p:cNvPr id="472" name="Straight Arrow Connector 131"/>
          <p:cNvCxnSpPr>
            <a:stCxn id="42" idx="1"/>
            <a:endCxn id="43" idx="3"/>
          </p:cNvCxnSpPr>
          <p:nvPr/>
        </p:nvCxnSpPr>
        <p:spPr>
          <a:xfrm flipH="1">
            <a:off x="1677353" y="5591176"/>
            <a:ext cx="1626870" cy="0"/>
          </a:xfrm>
          <a:prstGeom prst="straightConnector1">
            <a:avLst/>
          </a:prstGeom>
          <a:ln w="23813">
            <a:solidFill>
              <a:srgbClr val="117F85"/>
            </a:solidFill>
            <a:prstDash val="solid"/>
            <a:tailEnd type="none" w="med" len="med"/>
          </a:ln>
        </p:spPr>
      </p:cxnSp>
      <p:sp>
        <p:nvSpPr>
          <p:cNvPr id="45" name="connector start">
            <a:extLst>
              <a:ext uri="{FF2B5EF4-FFF2-40B4-BE49-F238E27FC236}">
                <a16:creationId xmlns:a16="http://schemas.microsoft.com/office/drawing/2014/main" id="{C97F3AFD-208C-42CD-B852-B4AC72A44199}"/>
              </a:ext>
            </a:extLst>
          </p:cNvPr>
          <p:cNvSpPr>
            <a:spLocks noGrp="1"/>
          </p:cNvSpPr>
          <p:nvPr/>
        </p:nvSpPr>
        <p:spPr>
          <a:xfrm>
            <a:off x="1675448" y="5590223"/>
            <a:ext cx="1905" cy="1905"/>
          </a:xfrm>
          <a:prstGeom prst="rect">
            <a:avLst/>
          </a:prstGeom>
          <a:noFill/>
          <a:ln w="0">
            <a:noFill/>
            <a:prstDash val="solid"/>
          </a:ln>
        </p:spPr>
        <p:txBody>
          <a:bodyPr/>
          <a:lstStyle/>
          <a:p>
            <a:endParaRPr/>
          </a:p>
        </p:txBody>
      </p:sp>
      <p:sp>
        <p:nvSpPr>
          <p:cNvPr id="46" name="connector end">
            <a:extLst>
              <a:ext uri="{FF2B5EF4-FFF2-40B4-BE49-F238E27FC236}">
                <a16:creationId xmlns:a16="http://schemas.microsoft.com/office/drawing/2014/main" id="{7724C209-8DCC-414C-96F5-01C9452AD184}"/>
              </a:ext>
            </a:extLst>
          </p:cNvPr>
          <p:cNvSpPr>
            <a:spLocks noGrp="1"/>
          </p:cNvSpPr>
          <p:nvPr/>
        </p:nvSpPr>
        <p:spPr>
          <a:xfrm>
            <a:off x="1675448" y="4028123"/>
            <a:ext cx="1905" cy="1905"/>
          </a:xfrm>
          <a:prstGeom prst="rect">
            <a:avLst/>
          </a:prstGeom>
          <a:noFill/>
          <a:ln w="0">
            <a:noFill/>
            <a:prstDash val="solid"/>
          </a:ln>
        </p:spPr>
        <p:txBody>
          <a:bodyPr/>
          <a:lstStyle/>
          <a:p>
            <a:endParaRPr/>
          </a:p>
        </p:txBody>
      </p:sp>
      <p:cxnSp>
        <p:nvCxnSpPr>
          <p:cNvPr id="475" name="Straight Arrow Connector 134"/>
          <p:cNvCxnSpPr>
            <a:stCxn id="45" idx="0"/>
            <a:endCxn id="46" idx="2"/>
          </p:cNvCxnSpPr>
          <p:nvPr/>
        </p:nvCxnSpPr>
        <p:spPr>
          <a:xfrm flipV="1">
            <a:off x="1676401" y="4030028"/>
            <a:ext cx="0" cy="1560195"/>
          </a:xfrm>
          <a:prstGeom prst="straightConnector1">
            <a:avLst/>
          </a:prstGeom>
          <a:ln w="23813">
            <a:solidFill>
              <a:srgbClr val="117F85"/>
            </a:solidFill>
            <a:prstDash val="solid"/>
            <a:tailEnd type="triangle" w="med" len="med"/>
          </a:ln>
        </p:spPr>
      </p:cxnSp>
      <p:sp>
        <p:nvSpPr>
          <p:cNvPr id="48" name="read updated&#10;results">
            <a:extLst>
              <a:ext uri="{FF2B5EF4-FFF2-40B4-BE49-F238E27FC236}">
                <a16:creationId xmlns:a16="http://schemas.microsoft.com/office/drawing/2014/main" id="{D7387DAE-BBC0-439E-A0FE-39F134C13ABA}"/>
              </a:ext>
            </a:extLst>
          </p:cNvPr>
          <p:cNvSpPr>
            <a:spLocks noGrp="1"/>
          </p:cNvSpPr>
          <p:nvPr/>
        </p:nvSpPr>
        <p:spPr>
          <a:xfrm>
            <a:off x="781050" y="4591050"/>
            <a:ext cx="1476375" cy="590550"/>
          </a:xfrm>
          <a:prstGeom prst="rect">
            <a:avLst/>
          </a:prstGeom>
          <a:noFill/>
          <a:ln w="0">
            <a:noFill/>
          </a:ln>
        </p:spPr>
        <p:txBody>
          <a:bodyPr wrap="square" lIns="0" tIns="0" rIns="0" bIns="0" anchor="t">
            <a:noAutofit/>
          </a:bodyPr>
          <a:lstStyle/>
          <a:p>
            <a:pPr algn="l">
              <a:buNone/>
              <a:defRPr sz="1650" b="0">
                <a:solidFill>
                  <a:srgbClr val="117F85"/>
                </a:solidFill>
                <a:latin typeface="Arial"/>
                <a:ea typeface="Arial"/>
                <a:cs typeface="Arial"/>
              </a:defRPr>
            </a:pPr>
            <a:r>
              <a:rPr sz="1650" b="0">
                <a:solidFill>
                  <a:srgbClr val="117F85"/>
                </a:solidFill>
                <a:latin typeface="Arial"/>
                <a:ea typeface="Arial"/>
                <a:cs typeface="Arial"/>
              </a:rPr>
              <a:t>read updated</a:t>
            </a:r>
          </a:p>
          <a:p>
            <a:pPr algn="l">
              <a:buNone/>
              <a:defRPr sz="1650" b="0">
                <a:solidFill>
                  <a:srgbClr val="117F85"/>
                </a:solidFill>
                <a:latin typeface="Arial"/>
                <a:ea typeface="Arial"/>
                <a:cs typeface="Arial"/>
              </a:defRPr>
            </a:pPr>
            <a:r>
              <a:rPr sz="1650" b="0">
                <a:solidFill>
                  <a:srgbClr val="117F85"/>
                </a:solidFill>
                <a:latin typeface="Arial"/>
                <a:ea typeface="Arial"/>
                <a:cs typeface="Arial"/>
              </a:rPr>
              <a:t>results</a:t>
            </a:r>
          </a:p>
        </p:txBody>
      </p:sp>
      <p:sp>
        <p:nvSpPr>
          <p:cNvPr id="49" name="Evaluator">
            <a:extLst>
              <a:ext uri="{FF2B5EF4-FFF2-40B4-BE49-F238E27FC236}">
                <a16:creationId xmlns:a16="http://schemas.microsoft.com/office/drawing/2014/main" id="{45EC02EA-DFF1-430F-8225-3070D372F580}"/>
              </a:ext>
            </a:extLst>
          </p:cNvPr>
          <p:cNvSpPr>
            <a:spLocks noGrp="1"/>
          </p:cNvSpPr>
          <p:nvPr/>
        </p:nvSpPr>
        <p:spPr>
          <a:xfrm>
            <a:off x="9305925" y="3028950"/>
            <a:ext cx="2200275" cy="1000125"/>
          </a:xfrm>
          <a:prstGeom prst="rect">
            <a:avLst/>
          </a:prstGeom>
          <a:solidFill>
            <a:srgbClr val="183447"/>
          </a:solidFill>
          <a:ln w="14288">
            <a:solidFill>
              <a:srgbClr val="183447"/>
            </a:solidFill>
            <a:prstDash val="solid"/>
          </a:ln>
        </p:spPr>
        <p:txBody>
          <a:bodyPr/>
          <a:lstStyle/>
          <a:p>
            <a:endParaRPr/>
          </a:p>
        </p:txBody>
      </p:sp>
      <p:sp>
        <p:nvSpPr>
          <p:cNvPr id="50" name="Evaluator">
            <a:extLst>
              <a:ext uri="{FF2B5EF4-FFF2-40B4-BE49-F238E27FC236}">
                <a16:creationId xmlns:a16="http://schemas.microsoft.com/office/drawing/2014/main" id="{B4080C0E-FD7D-447A-9BF4-DEC0471801E5}"/>
              </a:ext>
            </a:extLst>
          </p:cNvPr>
          <p:cNvSpPr>
            <a:spLocks noGrp="1"/>
          </p:cNvSpPr>
          <p:nvPr/>
        </p:nvSpPr>
        <p:spPr>
          <a:xfrm>
            <a:off x="9420225" y="3133725"/>
            <a:ext cx="1971675" cy="295275"/>
          </a:xfrm>
          <a:prstGeom prst="rect">
            <a:avLst/>
          </a:prstGeom>
          <a:noFill/>
          <a:ln w="0">
            <a:noFill/>
          </a:ln>
        </p:spPr>
        <p:txBody>
          <a:bodyPr wrap="square" lIns="0" tIns="0" rIns="0" bIns="0" anchor="t">
            <a:noAutofit/>
          </a:bodyPr>
          <a:lstStyle/>
          <a:p>
            <a:pPr algn="l">
              <a:buNone/>
              <a:defRPr sz="1800" b="1">
                <a:solidFill>
                  <a:srgbClr val="FFFFFF"/>
                </a:solidFill>
                <a:latin typeface="Arial"/>
                <a:ea typeface="Arial"/>
                <a:cs typeface="Arial"/>
              </a:defRPr>
            </a:pPr>
            <a:r>
              <a:rPr sz="1800" b="1">
                <a:solidFill>
                  <a:srgbClr val="FFFFFF"/>
                </a:solidFill>
                <a:latin typeface="Arial"/>
                <a:ea typeface="Arial"/>
                <a:cs typeface="Arial"/>
              </a:rPr>
              <a:t>Evaluator</a:t>
            </a:r>
          </a:p>
        </p:txBody>
      </p:sp>
      <p:sp>
        <p:nvSpPr>
          <p:cNvPr id="51" name="checks the plan">
            <a:extLst>
              <a:ext uri="{FF2B5EF4-FFF2-40B4-BE49-F238E27FC236}">
                <a16:creationId xmlns:a16="http://schemas.microsoft.com/office/drawing/2014/main" id="{A20289C6-9BB9-4080-82B8-5CE2849FA53E}"/>
              </a:ext>
            </a:extLst>
          </p:cNvPr>
          <p:cNvSpPr>
            <a:spLocks noGrp="1"/>
          </p:cNvSpPr>
          <p:nvPr/>
        </p:nvSpPr>
        <p:spPr>
          <a:xfrm>
            <a:off x="9420225" y="3457575"/>
            <a:ext cx="1971675" cy="533400"/>
          </a:xfrm>
          <a:prstGeom prst="rect">
            <a:avLst/>
          </a:prstGeom>
          <a:noFill/>
          <a:ln w="0">
            <a:noFill/>
          </a:ln>
        </p:spPr>
        <p:txBody>
          <a:bodyPr wrap="square" lIns="0" tIns="0" rIns="0" bIns="0" anchor="t">
            <a:noAutofit/>
          </a:bodyPr>
          <a:lstStyle/>
          <a:p>
            <a:pPr algn="l">
              <a:buNone/>
              <a:defRPr sz="1500" b="0">
                <a:solidFill>
                  <a:srgbClr val="FFFFFF"/>
                </a:solidFill>
                <a:latin typeface="Arial"/>
                <a:ea typeface="Arial"/>
                <a:cs typeface="Arial"/>
              </a:defRPr>
            </a:pPr>
            <a:r>
              <a:rPr sz="1500" b="0">
                <a:solidFill>
                  <a:srgbClr val="FFFFFF"/>
                </a:solidFill>
                <a:latin typeface="Arial"/>
                <a:ea typeface="Arial"/>
                <a:cs typeface="Arial"/>
              </a:rPr>
              <a:t>checks the plan</a:t>
            </a:r>
          </a:p>
        </p:txBody>
      </p:sp>
      <p:sp>
        <p:nvSpPr>
          <p:cNvPr id="52" name="Prompt + execution&#10;feedback">
            <a:extLst>
              <a:ext uri="{FF2B5EF4-FFF2-40B4-BE49-F238E27FC236}">
                <a16:creationId xmlns:a16="http://schemas.microsoft.com/office/drawing/2014/main" id="{B27E715F-4F29-480F-BFA6-35A0225F9197}"/>
              </a:ext>
            </a:extLst>
          </p:cNvPr>
          <p:cNvSpPr>
            <a:spLocks noGrp="1"/>
          </p:cNvSpPr>
          <p:nvPr/>
        </p:nvSpPr>
        <p:spPr>
          <a:xfrm>
            <a:off x="9296400" y="2352675"/>
            <a:ext cx="2266950" cy="600075"/>
          </a:xfrm>
          <a:prstGeom prst="rect">
            <a:avLst/>
          </a:prstGeom>
          <a:noFill/>
          <a:ln w="0">
            <a:noFill/>
          </a:ln>
        </p:spPr>
        <p:txBody>
          <a:bodyPr wrap="square" lIns="0" tIns="0" rIns="0" bIns="0" anchor="t">
            <a:noAutofit/>
          </a:bodyPr>
          <a:lstStyle/>
          <a:p>
            <a:pPr algn="l">
              <a:buNone/>
              <a:defRPr sz="1650" b="0">
                <a:solidFill>
                  <a:srgbClr val="536875"/>
                </a:solidFill>
                <a:latin typeface="Arial"/>
                <a:ea typeface="Arial"/>
                <a:cs typeface="Arial"/>
              </a:defRPr>
            </a:pPr>
            <a:r>
              <a:rPr sz="1650" b="0">
                <a:solidFill>
                  <a:srgbClr val="536875"/>
                </a:solidFill>
                <a:latin typeface="Arial"/>
                <a:ea typeface="Arial"/>
                <a:cs typeface="Arial"/>
              </a:rPr>
              <a:t>Prompt + execution</a:t>
            </a:r>
          </a:p>
          <a:p>
            <a:pPr algn="l">
              <a:buNone/>
              <a:defRPr sz="1650" b="0">
                <a:solidFill>
                  <a:srgbClr val="536875"/>
                </a:solidFill>
                <a:latin typeface="Arial"/>
                <a:ea typeface="Arial"/>
                <a:cs typeface="Arial"/>
              </a:defRPr>
            </a:pPr>
            <a:r>
              <a:rPr sz="1650" b="0">
                <a:solidFill>
                  <a:srgbClr val="536875"/>
                </a:solidFill>
                <a:latin typeface="Arial"/>
                <a:ea typeface="Arial"/>
                <a:cs typeface="Arial"/>
              </a:rPr>
              <a:t>feedback</a:t>
            </a:r>
          </a:p>
        </p:txBody>
      </p:sp>
      <p:sp>
        <p:nvSpPr>
          <p:cNvPr id="53" name="connector start">
            <a:extLst>
              <a:ext uri="{FF2B5EF4-FFF2-40B4-BE49-F238E27FC236}">
                <a16:creationId xmlns:a16="http://schemas.microsoft.com/office/drawing/2014/main" id="{ECD6A50E-7617-41A2-99BD-2FACC6791985}"/>
              </a:ext>
            </a:extLst>
          </p:cNvPr>
          <p:cNvSpPr>
            <a:spLocks noGrp="1"/>
          </p:cNvSpPr>
          <p:nvPr/>
        </p:nvSpPr>
        <p:spPr>
          <a:xfrm>
            <a:off x="8219123" y="5590223"/>
            <a:ext cx="1905" cy="1905"/>
          </a:xfrm>
          <a:prstGeom prst="rect">
            <a:avLst/>
          </a:prstGeom>
          <a:noFill/>
          <a:ln w="0">
            <a:noFill/>
            <a:prstDash val="solid"/>
          </a:ln>
        </p:spPr>
        <p:txBody>
          <a:bodyPr/>
          <a:lstStyle/>
          <a:p>
            <a:endParaRPr/>
          </a:p>
        </p:txBody>
      </p:sp>
      <p:sp>
        <p:nvSpPr>
          <p:cNvPr id="54" name="connector end">
            <a:extLst>
              <a:ext uri="{FF2B5EF4-FFF2-40B4-BE49-F238E27FC236}">
                <a16:creationId xmlns:a16="http://schemas.microsoft.com/office/drawing/2014/main" id="{48BE0028-1E3C-4859-BE15-BFA87ADF79DF}"/>
              </a:ext>
            </a:extLst>
          </p:cNvPr>
          <p:cNvSpPr>
            <a:spLocks noGrp="1"/>
          </p:cNvSpPr>
          <p:nvPr/>
        </p:nvSpPr>
        <p:spPr>
          <a:xfrm>
            <a:off x="8752523" y="5590223"/>
            <a:ext cx="1905" cy="1905"/>
          </a:xfrm>
          <a:prstGeom prst="rect">
            <a:avLst/>
          </a:prstGeom>
          <a:noFill/>
          <a:ln w="0">
            <a:noFill/>
            <a:prstDash val="solid"/>
          </a:ln>
        </p:spPr>
        <p:txBody>
          <a:bodyPr/>
          <a:lstStyle/>
          <a:p>
            <a:endParaRPr/>
          </a:p>
        </p:txBody>
      </p:sp>
      <p:cxnSp>
        <p:nvCxnSpPr>
          <p:cNvPr id="483" name="Straight Arrow Connector 142"/>
          <p:cNvCxnSpPr>
            <a:stCxn id="53" idx="3"/>
            <a:endCxn id="54" idx="1"/>
          </p:cNvCxnSpPr>
          <p:nvPr/>
        </p:nvCxnSpPr>
        <p:spPr>
          <a:xfrm>
            <a:off x="8221028" y="5591176"/>
            <a:ext cx="531495" cy="0"/>
          </a:xfrm>
          <a:prstGeom prst="straightConnector1">
            <a:avLst/>
          </a:prstGeom>
          <a:ln w="23813">
            <a:solidFill>
              <a:srgbClr val="117F85"/>
            </a:solidFill>
            <a:prstDash val="solid"/>
            <a:tailEnd type="none" w="med" len="med"/>
          </a:ln>
        </p:spPr>
      </p:cxnSp>
      <p:sp>
        <p:nvSpPr>
          <p:cNvPr id="56" name="connector start">
            <a:extLst>
              <a:ext uri="{FF2B5EF4-FFF2-40B4-BE49-F238E27FC236}">
                <a16:creationId xmlns:a16="http://schemas.microsoft.com/office/drawing/2014/main" id="{AC0C6C55-1FC6-4B45-9881-13039960205F}"/>
              </a:ext>
            </a:extLst>
          </p:cNvPr>
          <p:cNvSpPr>
            <a:spLocks noGrp="1"/>
          </p:cNvSpPr>
          <p:nvPr/>
        </p:nvSpPr>
        <p:spPr>
          <a:xfrm>
            <a:off x="8752523" y="5590223"/>
            <a:ext cx="1905" cy="1905"/>
          </a:xfrm>
          <a:prstGeom prst="rect">
            <a:avLst/>
          </a:prstGeom>
          <a:noFill/>
          <a:ln w="0">
            <a:noFill/>
            <a:prstDash val="solid"/>
          </a:ln>
        </p:spPr>
        <p:txBody>
          <a:bodyPr/>
          <a:lstStyle/>
          <a:p>
            <a:endParaRPr/>
          </a:p>
        </p:txBody>
      </p:sp>
      <p:sp>
        <p:nvSpPr>
          <p:cNvPr id="57" name="connector end">
            <a:extLst>
              <a:ext uri="{FF2B5EF4-FFF2-40B4-BE49-F238E27FC236}">
                <a16:creationId xmlns:a16="http://schemas.microsoft.com/office/drawing/2014/main" id="{AAF68C23-4269-4C06-8160-F3274EBE3338}"/>
              </a:ext>
            </a:extLst>
          </p:cNvPr>
          <p:cNvSpPr>
            <a:spLocks noGrp="1"/>
          </p:cNvSpPr>
          <p:nvPr/>
        </p:nvSpPr>
        <p:spPr>
          <a:xfrm>
            <a:off x="8752523" y="3532823"/>
            <a:ext cx="1905" cy="1905"/>
          </a:xfrm>
          <a:prstGeom prst="rect">
            <a:avLst/>
          </a:prstGeom>
          <a:noFill/>
          <a:ln w="0">
            <a:noFill/>
            <a:prstDash val="solid"/>
          </a:ln>
        </p:spPr>
        <p:txBody>
          <a:bodyPr/>
          <a:lstStyle/>
          <a:p>
            <a:endParaRPr/>
          </a:p>
        </p:txBody>
      </p:sp>
      <p:cxnSp>
        <p:nvCxnSpPr>
          <p:cNvPr id="486" name="Straight Arrow Connector 145"/>
          <p:cNvCxnSpPr>
            <a:stCxn id="56" idx="0"/>
            <a:endCxn id="57" idx="2"/>
          </p:cNvCxnSpPr>
          <p:nvPr/>
        </p:nvCxnSpPr>
        <p:spPr>
          <a:xfrm flipV="1">
            <a:off x="8753476" y="3534728"/>
            <a:ext cx="0" cy="2055495"/>
          </a:xfrm>
          <a:prstGeom prst="straightConnector1">
            <a:avLst/>
          </a:prstGeom>
          <a:ln w="23813">
            <a:solidFill>
              <a:srgbClr val="117F85"/>
            </a:solidFill>
            <a:prstDash val="solid"/>
            <a:tailEnd type="none" w="med" len="med"/>
          </a:ln>
        </p:spPr>
      </p:cxnSp>
      <p:sp>
        <p:nvSpPr>
          <p:cNvPr id="59" name="connector start">
            <a:extLst>
              <a:ext uri="{FF2B5EF4-FFF2-40B4-BE49-F238E27FC236}">
                <a16:creationId xmlns:a16="http://schemas.microsoft.com/office/drawing/2014/main" id="{C92C6883-4DFD-4ADB-ADA7-5551E27E0EB1}"/>
              </a:ext>
            </a:extLst>
          </p:cNvPr>
          <p:cNvSpPr>
            <a:spLocks noGrp="1"/>
          </p:cNvSpPr>
          <p:nvPr/>
        </p:nvSpPr>
        <p:spPr>
          <a:xfrm>
            <a:off x="8752523" y="3532823"/>
            <a:ext cx="1905" cy="1905"/>
          </a:xfrm>
          <a:prstGeom prst="rect">
            <a:avLst/>
          </a:prstGeom>
          <a:noFill/>
          <a:ln w="0">
            <a:noFill/>
            <a:prstDash val="solid"/>
          </a:ln>
        </p:spPr>
        <p:txBody>
          <a:bodyPr/>
          <a:lstStyle/>
          <a:p>
            <a:endParaRPr/>
          </a:p>
        </p:txBody>
      </p:sp>
      <p:sp>
        <p:nvSpPr>
          <p:cNvPr id="60" name="connector end">
            <a:extLst>
              <a:ext uri="{FF2B5EF4-FFF2-40B4-BE49-F238E27FC236}">
                <a16:creationId xmlns:a16="http://schemas.microsoft.com/office/drawing/2014/main" id="{748B64E1-E1F1-466E-9F48-DC15545C2FDA}"/>
              </a:ext>
            </a:extLst>
          </p:cNvPr>
          <p:cNvSpPr>
            <a:spLocks noGrp="1"/>
          </p:cNvSpPr>
          <p:nvPr/>
        </p:nvSpPr>
        <p:spPr>
          <a:xfrm>
            <a:off x="9304973" y="3532823"/>
            <a:ext cx="1905" cy="1905"/>
          </a:xfrm>
          <a:prstGeom prst="rect">
            <a:avLst/>
          </a:prstGeom>
          <a:noFill/>
          <a:ln w="0">
            <a:noFill/>
            <a:prstDash val="solid"/>
          </a:ln>
        </p:spPr>
        <p:txBody>
          <a:bodyPr/>
          <a:lstStyle/>
          <a:p>
            <a:endParaRPr/>
          </a:p>
        </p:txBody>
      </p:sp>
      <p:cxnSp>
        <p:nvCxnSpPr>
          <p:cNvPr id="489" name="Straight Arrow Connector 148"/>
          <p:cNvCxnSpPr>
            <a:stCxn id="59" idx="3"/>
            <a:endCxn id="60" idx="1"/>
          </p:cNvCxnSpPr>
          <p:nvPr/>
        </p:nvCxnSpPr>
        <p:spPr>
          <a:xfrm>
            <a:off x="8754428" y="3533776"/>
            <a:ext cx="550545" cy="0"/>
          </a:xfrm>
          <a:prstGeom prst="straightConnector1">
            <a:avLst/>
          </a:prstGeom>
          <a:ln w="23813">
            <a:solidFill>
              <a:srgbClr val="117F85"/>
            </a:solidFill>
            <a:prstDash val="solid"/>
            <a:tailEnd type="triangle" w="med" len="med"/>
          </a:ln>
        </p:spPr>
      </p:cxnSp>
      <p:sp>
        <p:nvSpPr>
          <p:cNvPr id="62" name="ready&#10;to check">
            <a:extLst>
              <a:ext uri="{FF2B5EF4-FFF2-40B4-BE49-F238E27FC236}">
                <a16:creationId xmlns:a16="http://schemas.microsoft.com/office/drawing/2014/main" id="{1E48A40C-AEBC-4970-99E0-A16017C33F66}"/>
              </a:ext>
            </a:extLst>
          </p:cNvPr>
          <p:cNvSpPr>
            <a:spLocks noGrp="1"/>
          </p:cNvSpPr>
          <p:nvPr/>
        </p:nvSpPr>
        <p:spPr>
          <a:xfrm>
            <a:off x="8448675" y="4324350"/>
            <a:ext cx="857250" cy="581025"/>
          </a:xfrm>
          <a:prstGeom prst="rect">
            <a:avLst/>
          </a:prstGeom>
          <a:noFill/>
          <a:ln w="0">
            <a:noFill/>
          </a:ln>
        </p:spPr>
        <p:txBody>
          <a:bodyPr wrap="square" lIns="0" tIns="0" rIns="0" bIns="0" anchor="t">
            <a:noAutofit/>
          </a:bodyPr>
          <a:lstStyle/>
          <a:p>
            <a:pPr algn="l">
              <a:buNone/>
              <a:defRPr sz="1350" b="0">
                <a:solidFill>
                  <a:srgbClr val="117F85"/>
                </a:solidFill>
                <a:latin typeface="Arial"/>
                <a:ea typeface="Arial"/>
                <a:cs typeface="Arial"/>
              </a:defRPr>
            </a:pPr>
            <a:r>
              <a:rPr sz="1350" b="0">
                <a:solidFill>
                  <a:srgbClr val="117F85"/>
                </a:solidFill>
                <a:latin typeface="Arial"/>
                <a:ea typeface="Arial"/>
                <a:cs typeface="Arial"/>
              </a:rPr>
              <a:t>ready</a:t>
            </a:r>
          </a:p>
          <a:p>
            <a:pPr algn="l">
              <a:buNone/>
              <a:defRPr sz="1350" b="0">
                <a:solidFill>
                  <a:srgbClr val="117F85"/>
                </a:solidFill>
                <a:latin typeface="Arial"/>
                <a:ea typeface="Arial"/>
                <a:cs typeface="Arial"/>
              </a:defRPr>
            </a:pPr>
            <a:r>
              <a:rPr sz="1350" b="0">
                <a:solidFill>
                  <a:srgbClr val="117F85"/>
                </a:solidFill>
                <a:latin typeface="Arial"/>
                <a:ea typeface="Arial"/>
                <a:cs typeface="Arial"/>
              </a:rPr>
              <a:t>to check</a:t>
            </a:r>
          </a:p>
        </p:txBody>
      </p:sp>
      <p:sp>
        <p:nvSpPr>
          <p:cNvPr id="63" name="Final plan">
            <a:extLst>
              <a:ext uri="{FF2B5EF4-FFF2-40B4-BE49-F238E27FC236}">
                <a16:creationId xmlns:a16="http://schemas.microsoft.com/office/drawing/2014/main" id="{85B78F22-3540-40A5-82FD-CF89D4A49503}"/>
              </a:ext>
            </a:extLst>
          </p:cNvPr>
          <p:cNvSpPr>
            <a:spLocks noGrp="1"/>
          </p:cNvSpPr>
          <p:nvPr/>
        </p:nvSpPr>
        <p:spPr>
          <a:xfrm>
            <a:off x="9305925" y="5276850"/>
            <a:ext cx="2200275" cy="628650"/>
          </a:xfrm>
          <a:prstGeom prst="rect">
            <a:avLst/>
          </a:prstGeom>
          <a:solidFill>
            <a:srgbClr val="ECF5F4"/>
          </a:solidFill>
          <a:ln w="14288">
            <a:solidFill>
              <a:srgbClr val="117F85"/>
            </a:solidFill>
            <a:prstDash val="solid"/>
          </a:ln>
        </p:spPr>
        <p:txBody>
          <a:bodyPr/>
          <a:lstStyle/>
          <a:p>
            <a:endParaRPr/>
          </a:p>
        </p:txBody>
      </p:sp>
      <p:sp>
        <p:nvSpPr>
          <p:cNvPr id="64" name="Final plan">
            <a:extLst>
              <a:ext uri="{FF2B5EF4-FFF2-40B4-BE49-F238E27FC236}">
                <a16:creationId xmlns:a16="http://schemas.microsoft.com/office/drawing/2014/main" id="{3069E1EB-F9C8-4FD0-AF88-E404ACA46A8F}"/>
              </a:ext>
            </a:extLst>
          </p:cNvPr>
          <p:cNvSpPr>
            <a:spLocks noGrp="1"/>
          </p:cNvSpPr>
          <p:nvPr/>
        </p:nvSpPr>
        <p:spPr>
          <a:xfrm>
            <a:off x="9420225" y="5381625"/>
            <a:ext cx="1971675" cy="295275"/>
          </a:xfrm>
          <a:prstGeom prst="rect">
            <a:avLst/>
          </a:prstGeom>
          <a:noFill/>
          <a:ln w="0">
            <a:noFill/>
          </a:ln>
        </p:spPr>
        <p:txBody>
          <a:bodyPr wrap="square" lIns="0" tIns="0" rIns="0" bIns="0" anchor="t">
            <a:noAutofit/>
          </a:bodyPr>
          <a:lstStyle/>
          <a:p>
            <a:pPr algn="l">
              <a:buNone/>
              <a:defRPr sz="1800" b="1">
                <a:solidFill>
                  <a:srgbClr val="183447"/>
                </a:solidFill>
                <a:latin typeface="Arial"/>
                <a:ea typeface="Arial"/>
                <a:cs typeface="Arial"/>
              </a:defRPr>
            </a:pPr>
            <a:r>
              <a:rPr sz="1800" b="1">
                <a:solidFill>
                  <a:srgbClr val="183447"/>
                </a:solidFill>
                <a:latin typeface="Arial"/>
                <a:ea typeface="Arial"/>
                <a:cs typeface="Arial"/>
              </a:rPr>
              <a:t>Final plan</a:t>
            </a:r>
          </a:p>
        </p:txBody>
      </p:sp>
      <p:sp>
        <p:nvSpPr>
          <p:cNvPr id="65" name="text + boxes + depth">
            <a:extLst>
              <a:ext uri="{FF2B5EF4-FFF2-40B4-BE49-F238E27FC236}">
                <a16:creationId xmlns:a16="http://schemas.microsoft.com/office/drawing/2014/main" id="{EBAC4DA6-3D05-48BF-9EE8-4ACC93E699B3}"/>
              </a:ext>
            </a:extLst>
          </p:cNvPr>
          <p:cNvSpPr>
            <a:spLocks noGrp="1"/>
          </p:cNvSpPr>
          <p:nvPr/>
        </p:nvSpPr>
        <p:spPr>
          <a:xfrm>
            <a:off x="9420225" y="5610225"/>
            <a:ext cx="1981200" cy="276225"/>
          </a:xfrm>
          <a:prstGeom prst="rect">
            <a:avLst/>
          </a:prstGeom>
          <a:noFill/>
          <a:ln w="0">
            <a:noFill/>
          </a:ln>
        </p:spPr>
        <p:txBody>
          <a:bodyPr wrap="square" lIns="0" tIns="0" rIns="0" bIns="0" anchor="t">
            <a:noAutofit/>
          </a:bodyPr>
          <a:lstStyle/>
          <a:p>
            <a:pPr algn="l">
              <a:buNone/>
              <a:defRPr sz="1500" b="0">
                <a:solidFill>
                  <a:srgbClr val="536875"/>
                </a:solidFill>
                <a:latin typeface="Arial"/>
                <a:ea typeface="Arial"/>
                <a:cs typeface="Arial"/>
              </a:defRPr>
            </a:pPr>
            <a:r>
              <a:rPr sz="1500" b="0">
                <a:solidFill>
                  <a:srgbClr val="536875"/>
                </a:solidFill>
                <a:latin typeface="Arial"/>
                <a:ea typeface="Arial"/>
                <a:cs typeface="Arial"/>
              </a:rPr>
              <a:t>text + boxes + depth</a:t>
            </a:r>
          </a:p>
        </p:txBody>
      </p:sp>
      <p:sp>
        <p:nvSpPr>
          <p:cNvPr id="66" name="connector start">
            <a:extLst>
              <a:ext uri="{FF2B5EF4-FFF2-40B4-BE49-F238E27FC236}">
                <a16:creationId xmlns:a16="http://schemas.microsoft.com/office/drawing/2014/main" id="{AEDC026A-3404-4B6D-BA82-5D020B674D20}"/>
              </a:ext>
            </a:extLst>
          </p:cNvPr>
          <p:cNvSpPr>
            <a:spLocks noGrp="1"/>
          </p:cNvSpPr>
          <p:nvPr/>
        </p:nvSpPr>
        <p:spPr>
          <a:xfrm>
            <a:off x="10400348" y="4028123"/>
            <a:ext cx="1905" cy="1905"/>
          </a:xfrm>
          <a:prstGeom prst="rect">
            <a:avLst/>
          </a:prstGeom>
          <a:noFill/>
          <a:ln w="0">
            <a:noFill/>
            <a:prstDash val="solid"/>
          </a:ln>
        </p:spPr>
        <p:txBody>
          <a:bodyPr/>
          <a:lstStyle/>
          <a:p>
            <a:endParaRPr/>
          </a:p>
        </p:txBody>
      </p:sp>
      <p:sp>
        <p:nvSpPr>
          <p:cNvPr id="67" name="connector end">
            <a:extLst>
              <a:ext uri="{FF2B5EF4-FFF2-40B4-BE49-F238E27FC236}">
                <a16:creationId xmlns:a16="http://schemas.microsoft.com/office/drawing/2014/main" id="{9F51E606-F0F3-4E64-B024-6B212770901E}"/>
              </a:ext>
            </a:extLst>
          </p:cNvPr>
          <p:cNvSpPr>
            <a:spLocks noGrp="1"/>
          </p:cNvSpPr>
          <p:nvPr/>
        </p:nvSpPr>
        <p:spPr>
          <a:xfrm>
            <a:off x="10400348" y="5275898"/>
            <a:ext cx="1905" cy="1905"/>
          </a:xfrm>
          <a:prstGeom prst="rect">
            <a:avLst/>
          </a:prstGeom>
          <a:noFill/>
          <a:ln w="0">
            <a:noFill/>
            <a:prstDash val="solid"/>
          </a:ln>
        </p:spPr>
        <p:txBody>
          <a:bodyPr/>
          <a:lstStyle/>
          <a:p>
            <a:endParaRPr/>
          </a:p>
        </p:txBody>
      </p:sp>
      <p:cxnSp>
        <p:nvCxnSpPr>
          <p:cNvPr id="496" name="Straight Arrow Connector 155"/>
          <p:cNvCxnSpPr>
            <a:stCxn id="66" idx="2"/>
            <a:endCxn id="67" idx="0"/>
          </p:cNvCxnSpPr>
          <p:nvPr/>
        </p:nvCxnSpPr>
        <p:spPr>
          <a:xfrm>
            <a:off x="10401301" y="4030028"/>
            <a:ext cx="0" cy="1245870"/>
          </a:xfrm>
          <a:prstGeom prst="straightConnector1">
            <a:avLst/>
          </a:prstGeom>
          <a:ln w="23813">
            <a:solidFill>
              <a:srgbClr val="117F85"/>
            </a:solidFill>
            <a:prstDash val="solid"/>
            <a:tailEnd type="triangle" w="med" len="med"/>
          </a:ln>
        </p:spPr>
      </p:cxnSp>
      <p:sp>
        <p:nvSpPr>
          <p:cNvPr id="69" name="pass">
            <a:extLst>
              <a:ext uri="{FF2B5EF4-FFF2-40B4-BE49-F238E27FC236}">
                <a16:creationId xmlns:a16="http://schemas.microsoft.com/office/drawing/2014/main" id="{7F6F37DC-924D-4FD2-AC2C-E4C610D18155}"/>
              </a:ext>
            </a:extLst>
          </p:cNvPr>
          <p:cNvSpPr>
            <a:spLocks noGrp="1"/>
          </p:cNvSpPr>
          <p:nvPr/>
        </p:nvSpPr>
        <p:spPr>
          <a:xfrm>
            <a:off x="10525125" y="4543425"/>
            <a:ext cx="885825" cy="323850"/>
          </a:xfrm>
          <a:prstGeom prst="rect">
            <a:avLst/>
          </a:prstGeom>
          <a:noFill/>
          <a:ln w="0">
            <a:noFill/>
          </a:ln>
        </p:spPr>
        <p:txBody>
          <a:bodyPr wrap="square" lIns="0" tIns="0" rIns="0" bIns="0" anchor="t">
            <a:noAutofit/>
          </a:bodyPr>
          <a:lstStyle/>
          <a:p>
            <a:pPr algn="l">
              <a:buNone/>
              <a:defRPr sz="1650" b="1">
                <a:solidFill>
                  <a:srgbClr val="117F85"/>
                </a:solidFill>
                <a:latin typeface="Arial"/>
                <a:ea typeface="Arial"/>
                <a:cs typeface="Arial"/>
              </a:defRPr>
            </a:pPr>
            <a:r>
              <a:rPr sz="1650" b="1">
                <a:solidFill>
                  <a:srgbClr val="117F85"/>
                </a:solidFill>
                <a:latin typeface="Arial"/>
                <a:ea typeface="Arial"/>
                <a:cs typeface="Arial"/>
              </a:rPr>
              <a:t>pass</a:t>
            </a:r>
          </a:p>
        </p:txBody>
      </p:sp>
      <p:sp>
        <p:nvSpPr>
          <p:cNvPr id="70" name="to the image model">
            <a:extLst>
              <a:ext uri="{FF2B5EF4-FFF2-40B4-BE49-F238E27FC236}">
                <a16:creationId xmlns:a16="http://schemas.microsoft.com/office/drawing/2014/main" id="{D012276F-9E50-425A-9561-D072D3EB0EE8}"/>
              </a:ext>
            </a:extLst>
          </p:cNvPr>
          <p:cNvSpPr>
            <a:spLocks noGrp="1"/>
          </p:cNvSpPr>
          <p:nvPr/>
        </p:nvSpPr>
        <p:spPr>
          <a:xfrm>
            <a:off x="9315450" y="5934075"/>
            <a:ext cx="2266950" cy="247650"/>
          </a:xfrm>
          <a:prstGeom prst="rect">
            <a:avLst/>
          </a:prstGeom>
          <a:noFill/>
          <a:ln w="0">
            <a:noFill/>
          </a:ln>
        </p:spPr>
        <p:txBody>
          <a:bodyPr wrap="square" lIns="0" tIns="0" rIns="0" bIns="0" anchor="t">
            <a:noAutofit/>
          </a:bodyPr>
          <a:lstStyle/>
          <a:p>
            <a:pPr algn="l">
              <a:buNone/>
              <a:defRPr sz="1350" b="0">
                <a:solidFill>
                  <a:srgbClr val="536875"/>
                </a:solidFill>
                <a:latin typeface="Arial"/>
                <a:ea typeface="Arial"/>
                <a:cs typeface="Arial"/>
              </a:defRPr>
            </a:pPr>
            <a:r>
              <a:rPr sz="1350" b="0">
                <a:solidFill>
                  <a:srgbClr val="536875"/>
                </a:solidFill>
                <a:latin typeface="Arial"/>
                <a:ea typeface="Arial"/>
                <a:cs typeface="Arial"/>
              </a:rPr>
              <a:t>to the image model</a:t>
            </a:r>
          </a:p>
        </p:txBody>
      </p:sp>
      <p:sp>
        <p:nvSpPr>
          <p:cNvPr id="71" name="connector start">
            <a:extLst>
              <a:ext uri="{FF2B5EF4-FFF2-40B4-BE49-F238E27FC236}">
                <a16:creationId xmlns:a16="http://schemas.microsoft.com/office/drawing/2014/main" id="{E8F55D68-9CCE-4720-B8E7-A3FC65A4820F}"/>
              </a:ext>
            </a:extLst>
          </p:cNvPr>
          <p:cNvSpPr>
            <a:spLocks noGrp="1"/>
          </p:cNvSpPr>
          <p:nvPr/>
        </p:nvSpPr>
        <p:spPr>
          <a:xfrm>
            <a:off x="11505248" y="3532823"/>
            <a:ext cx="1905" cy="1905"/>
          </a:xfrm>
          <a:prstGeom prst="rect">
            <a:avLst/>
          </a:prstGeom>
          <a:noFill/>
          <a:ln w="0">
            <a:noFill/>
            <a:prstDash val="solid"/>
          </a:ln>
        </p:spPr>
        <p:txBody>
          <a:bodyPr/>
          <a:lstStyle/>
          <a:p>
            <a:endParaRPr/>
          </a:p>
        </p:txBody>
      </p:sp>
      <p:sp>
        <p:nvSpPr>
          <p:cNvPr id="72" name="connector end">
            <a:extLst>
              <a:ext uri="{FF2B5EF4-FFF2-40B4-BE49-F238E27FC236}">
                <a16:creationId xmlns:a16="http://schemas.microsoft.com/office/drawing/2014/main" id="{E5D87CE4-3DEB-49F7-8A5D-0896DF3867FD}"/>
              </a:ext>
            </a:extLst>
          </p:cNvPr>
          <p:cNvSpPr>
            <a:spLocks noGrp="1"/>
          </p:cNvSpPr>
          <p:nvPr/>
        </p:nvSpPr>
        <p:spPr>
          <a:xfrm>
            <a:off x="11829098" y="3532823"/>
            <a:ext cx="1905" cy="1905"/>
          </a:xfrm>
          <a:prstGeom prst="rect">
            <a:avLst/>
          </a:prstGeom>
          <a:noFill/>
          <a:ln w="0">
            <a:noFill/>
            <a:prstDash val="solid"/>
          </a:ln>
        </p:spPr>
        <p:txBody>
          <a:bodyPr/>
          <a:lstStyle/>
          <a:p>
            <a:endParaRPr/>
          </a:p>
        </p:txBody>
      </p:sp>
      <p:cxnSp>
        <p:nvCxnSpPr>
          <p:cNvPr id="501" name="Straight Arrow Connector 160"/>
          <p:cNvCxnSpPr>
            <a:stCxn id="71" idx="3"/>
            <a:endCxn id="72" idx="1"/>
          </p:cNvCxnSpPr>
          <p:nvPr/>
        </p:nvCxnSpPr>
        <p:spPr>
          <a:xfrm>
            <a:off x="11507153" y="3533776"/>
            <a:ext cx="321945" cy="0"/>
          </a:xfrm>
          <a:prstGeom prst="straightConnector1">
            <a:avLst/>
          </a:prstGeom>
          <a:ln w="23813">
            <a:solidFill>
              <a:srgbClr val="BD402E"/>
            </a:solidFill>
            <a:prstDash val="dash"/>
            <a:tailEnd type="none" w="med" len="med"/>
          </a:ln>
        </p:spPr>
      </p:cxnSp>
      <p:sp>
        <p:nvSpPr>
          <p:cNvPr id="74" name="connector start">
            <a:extLst>
              <a:ext uri="{FF2B5EF4-FFF2-40B4-BE49-F238E27FC236}">
                <a16:creationId xmlns:a16="http://schemas.microsoft.com/office/drawing/2014/main" id="{95C8732F-0CD9-4D7E-B6A6-F2E4FEBEE80F}"/>
              </a:ext>
            </a:extLst>
          </p:cNvPr>
          <p:cNvSpPr>
            <a:spLocks noGrp="1"/>
          </p:cNvSpPr>
          <p:nvPr/>
        </p:nvSpPr>
        <p:spPr>
          <a:xfrm>
            <a:off x="11829098" y="3532823"/>
            <a:ext cx="1905" cy="1905"/>
          </a:xfrm>
          <a:prstGeom prst="rect">
            <a:avLst/>
          </a:prstGeom>
          <a:noFill/>
          <a:ln w="0">
            <a:noFill/>
            <a:prstDash val="solid"/>
          </a:ln>
        </p:spPr>
        <p:txBody>
          <a:bodyPr/>
          <a:lstStyle/>
          <a:p>
            <a:endParaRPr/>
          </a:p>
        </p:txBody>
      </p:sp>
      <p:sp>
        <p:nvSpPr>
          <p:cNvPr id="75" name="connector end">
            <a:extLst>
              <a:ext uri="{FF2B5EF4-FFF2-40B4-BE49-F238E27FC236}">
                <a16:creationId xmlns:a16="http://schemas.microsoft.com/office/drawing/2014/main" id="{9B6BCB73-56C9-4B57-8997-74A8CD1CEAD6}"/>
              </a:ext>
            </a:extLst>
          </p:cNvPr>
          <p:cNvSpPr>
            <a:spLocks noGrp="1"/>
          </p:cNvSpPr>
          <p:nvPr/>
        </p:nvSpPr>
        <p:spPr>
          <a:xfrm>
            <a:off x="11829098" y="6199823"/>
            <a:ext cx="1905" cy="1905"/>
          </a:xfrm>
          <a:prstGeom prst="rect">
            <a:avLst/>
          </a:prstGeom>
          <a:noFill/>
          <a:ln w="0">
            <a:noFill/>
            <a:prstDash val="solid"/>
          </a:ln>
        </p:spPr>
        <p:txBody>
          <a:bodyPr/>
          <a:lstStyle/>
          <a:p>
            <a:endParaRPr/>
          </a:p>
        </p:txBody>
      </p:sp>
      <p:cxnSp>
        <p:nvCxnSpPr>
          <p:cNvPr id="504" name="Straight Arrow Connector 163"/>
          <p:cNvCxnSpPr>
            <a:stCxn id="74" idx="2"/>
            <a:endCxn id="75" idx="0"/>
          </p:cNvCxnSpPr>
          <p:nvPr/>
        </p:nvCxnSpPr>
        <p:spPr>
          <a:xfrm>
            <a:off x="11830051" y="3534728"/>
            <a:ext cx="0" cy="2665095"/>
          </a:xfrm>
          <a:prstGeom prst="straightConnector1">
            <a:avLst/>
          </a:prstGeom>
          <a:ln w="23813">
            <a:solidFill>
              <a:srgbClr val="BD402E"/>
            </a:solidFill>
            <a:prstDash val="dash"/>
            <a:tailEnd type="none" w="med" len="med"/>
          </a:ln>
        </p:spPr>
      </p:cxnSp>
      <p:sp>
        <p:nvSpPr>
          <p:cNvPr id="77" name="connector start">
            <a:extLst>
              <a:ext uri="{FF2B5EF4-FFF2-40B4-BE49-F238E27FC236}">
                <a16:creationId xmlns:a16="http://schemas.microsoft.com/office/drawing/2014/main" id="{DE3CE0A3-2117-41E6-9D0B-87DF5F17ADEC}"/>
              </a:ext>
            </a:extLst>
          </p:cNvPr>
          <p:cNvSpPr>
            <a:spLocks noGrp="1"/>
          </p:cNvSpPr>
          <p:nvPr/>
        </p:nvSpPr>
        <p:spPr>
          <a:xfrm>
            <a:off x="11829098" y="6199823"/>
            <a:ext cx="1905" cy="1905"/>
          </a:xfrm>
          <a:prstGeom prst="rect">
            <a:avLst/>
          </a:prstGeom>
          <a:noFill/>
          <a:ln w="0">
            <a:noFill/>
            <a:prstDash val="solid"/>
          </a:ln>
        </p:spPr>
        <p:txBody>
          <a:bodyPr/>
          <a:lstStyle/>
          <a:p>
            <a:endParaRPr/>
          </a:p>
        </p:txBody>
      </p:sp>
      <p:sp>
        <p:nvSpPr>
          <p:cNvPr id="78" name="connector end">
            <a:extLst>
              <a:ext uri="{FF2B5EF4-FFF2-40B4-BE49-F238E27FC236}">
                <a16:creationId xmlns:a16="http://schemas.microsoft.com/office/drawing/2014/main" id="{DBF5A761-49EB-4212-8E04-2AF4FAB1602D}"/>
              </a:ext>
            </a:extLst>
          </p:cNvPr>
          <p:cNvSpPr>
            <a:spLocks noGrp="1"/>
          </p:cNvSpPr>
          <p:nvPr/>
        </p:nvSpPr>
        <p:spPr>
          <a:xfrm>
            <a:off x="370523" y="6199823"/>
            <a:ext cx="1905" cy="1905"/>
          </a:xfrm>
          <a:prstGeom prst="rect">
            <a:avLst/>
          </a:prstGeom>
          <a:noFill/>
          <a:ln w="0">
            <a:noFill/>
            <a:prstDash val="solid"/>
          </a:ln>
        </p:spPr>
        <p:txBody>
          <a:bodyPr/>
          <a:lstStyle/>
          <a:p>
            <a:endParaRPr/>
          </a:p>
        </p:txBody>
      </p:sp>
      <p:cxnSp>
        <p:nvCxnSpPr>
          <p:cNvPr id="507" name="Straight Arrow Connector 166"/>
          <p:cNvCxnSpPr>
            <a:stCxn id="77" idx="1"/>
            <a:endCxn id="78" idx="3"/>
          </p:cNvCxnSpPr>
          <p:nvPr/>
        </p:nvCxnSpPr>
        <p:spPr>
          <a:xfrm flipH="1">
            <a:off x="372428" y="6200776"/>
            <a:ext cx="11456670" cy="0"/>
          </a:xfrm>
          <a:prstGeom prst="straightConnector1">
            <a:avLst/>
          </a:prstGeom>
          <a:ln w="23813">
            <a:solidFill>
              <a:srgbClr val="BD402E"/>
            </a:solidFill>
            <a:prstDash val="dash"/>
            <a:tailEnd type="none" w="med" len="med"/>
          </a:ln>
        </p:spPr>
      </p:cxnSp>
      <p:sp>
        <p:nvSpPr>
          <p:cNvPr id="80" name="connector start">
            <a:extLst>
              <a:ext uri="{FF2B5EF4-FFF2-40B4-BE49-F238E27FC236}">
                <a16:creationId xmlns:a16="http://schemas.microsoft.com/office/drawing/2014/main" id="{00658A3B-6504-4137-85F2-C9A86714764F}"/>
              </a:ext>
            </a:extLst>
          </p:cNvPr>
          <p:cNvSpPr>
            <a:spLocks noGrp="1"/>
          </p:cNvSpPr>
          <p:nvPr/>
        </p:nvSpPr>
        <p:spPr>
          <a:xfrm>
            <a:off x="370523" y="6199823"/>
            <a:ext cx="1905" cy="1905"/>
          </a:xfrm>
          <a:prstGeom prst="rect">
            <a:avLst/>
          </a:prstGeom>
          <a:noFill/>
          <a:ln w="0">
            <a:noFill/>
            <a:prstDash val="solid"/>
          </a:ln>
        </p:spPr>
        <p:txBody>
          <a:bodyPr/>
          <a:lstStyle/>
          <a:p>
            <a:endParaRPr/>
          </a:p>
        </p:txBody>
      </p:sp>
      <p:sp>
        <p:nvSpPr>
          <p:cNvPr id="81" name="connector end">
            <a:extLst>
              <a:ext uri="{FF2B5EF4-FFF2-40B4-BE49-F238E27FC236}">
                <a16:creationId xmlns:a16="http://schemas.microsoft.com/office/drawing/2014/main" id="{08A8CBF9-96B2-4A76-9E2F-7433D5C7BFCA}"/>
              </a:ext>
            </a:extLst>
          </p:cNvPr>
          <p:cNvSpPr>
            <a:spLocks noGrp="1"/>
          </p:cNvSpPr>
          <p:nvPr/>
        </p:nvSpPr>
        <p:spPr>
          <a:xfrm>
            <a:off x="370523" y="3532823"/>
            <a:ext cx="1905" cy="1905"/>
          </a:xfrm>
          <a:prstGeom prst="rect">
            <a:avLst/>
          </a:prstGeom>
          <a:noFill/>
          <a:ln w="0">
            <a:noFill/>
            <a:prstDash val="solid"/>
          </a:ln>
        </p:spPr>
        <p:txBody>
          <a:bodyPr/>
          <a:lstStyle/>
          <a:p>
            <a:endParaRPr/>
          </a:p>
        </p:txBody>
      </p:sp>
      <p:cxnSp>
        <p:nvCxnSpPr>
          <p:cNvPr id="510" name="Straight Arrow Connector 169"/>
          <p:cNvCxnSpPr>
            <a:stCxn id="80" idx="0"/>
            <a:endCxn id="81" idx="2"/>
          </p:cNvCxnSpPr>
          <p:nvPr/>
        </p:nvCxnSpPr>
        <p:spPr>
          <a:xfrm flipV="1">
            <a:off x="371476" y="3534728"/>
            <a:ext cx="0" cy="2665095"/>
          </a:xfrm>
          <a:prstGeom prst="straightConnector1">
            <a:avLst/>
          </a:prstGeom>
          <a:ln w="23813">
            <a:solidFill>
              <a:srgbClr val="BD402E"/>
            </a:solidFill>
            <a:prstDash val="dash"/>
            <a:tailEnd type="none" w="med" len="med"/>
          </a:ln>
        </p:spPr>
      </p:cxnSp>
      <p:sp>
        <p:nvSpPr>
          <p:cNvPr id="83" name="connector start">
            <a:extLst>
              <a:ext uri="{FF2B5EF4-FFF2-40B4-BE49-F238E27FC236}">
                <a16:creationId xmlns:a16="http://schemas.microsoft.com/office/drawing/2014/main" id="{3FC38566-182B-4FDD-B02F-2C6FE0F6432E}"/>
              </a:ext>
            </a:extLst>
          </p:cNvPr>
          <p:cNvSpPr>
            <a:spLocks noGrp="1"/>
          </p:cNvSpPr>
          <p:nvPr/>
        </p:nvSpPr>
        <p:spPr>
          <a:xfrm>
            <a:off x="370523" y="3532823"/>
            <a:ext cx="1905" cy="1905"/>
          </a:xfrm>
          <a:prstGeom prst="rect">
            <a:avLst/>
          </a:prstGeom>
          <a:noFill/>
          <a:ln w="0">
            <a:noFill/>
            <a:prstDash val="solid"/>
          </a:ln>
        </p:spPr>
        <p:txBody>
          <a:bodyPr/>
          <a:lstStyle/>
          <a:p>
            <a:endParaRPr/>
          </a:p>
        </p:txBody>
      </p:sp>
      <p:sp>
        <p:nvSpPr>
          <p:cNvPr id="84" name="connector end">
            <a:extLst>
              <a:ext uri="{FF2B5EF4-FFF2-40B4-BE49-F238E27FC236}">
                <a16:creationId xmlns:a16="http://schemas.microsoft.com/office/drawing/2014/main" id="{24C3F9C2-4D08-459F-B5DB-36404F1A743D}"/>
              </a:ext>
            </a:extLst>
          </p:cNvPr>
          <p:cNvSpPr>
            <a:spLocks noGrp="1"/>
          </p:cNvSpPr>
          <p:nvPr/>
        </p:nvSpPr>
        <p:spPr>
          <a:xfrm>
            <a:off x="627698" y="3532823"/>
            <a:ext cx="1905" cy="1905"/>
          </a:xfrm>
          <a:prstGeom prst="rect">
            <a:avLst/>
          </a:prstGeom>
          <a:noFill/>
          <a:ln w="0">
            <a:noFill/>
            <a:prstDash val="solid"/>
          </a:ln>
        </p:spPr>
        <p:txBody>
          <a:bodyPr/>
          <a:lstStyle/>
          <a:p>
            <a:endParaRPr/>
          </a:p>
        </p:txBody>
      </p:sp>
      <p:cxnSp>
        <p:nvCxnSpPr>
          <p:cNvPr id="513" name="Straight Arrow Connector 172"/>
          <p:cNvCxnSpPr>
            <a:stCxn id="83" idx="3"/>
            <a:endCxn id="84" idx="1"/>
          </p:cNvCxnSpPr>
          <p:nvPr/>
        </p:nvCxnSpPr>
        <p:spPr>
          <a:xfrm>
            <a:off x="372428" y="3533776"/>
            <a:ext cx="255270" cy="0"/>
          </a:xfrm>
          <a:prstGeom prst="straightConnector1">
            <a:avLst/>
          </a:prstGeom>
          <a:ln w="23813">
            <a:solidFill>
              <a:srgbClr val="BD402E"/>
            </a:solidFill>
            <a:prstDash val="dash"/>
            <a:tailEnd type="triangle" w="med" len="med"/>
          </a:ln>
        </p:spPr>
      </p:cxnSp>
      <p:sp>
        <p:nvSpPr>
          <p:cNvPr id="86" name="Feedback label background">
            <a:extLst>
              <a:ext uri="{FF2B5EF4-FFF2-40B4-BE49-F238E27FC236}">
                <a16:creationId xmlns:a16="http://schemas.microsoft.com/office/drawing/2014/main" id="{342DDE5D-110C-4BF3-98BA-5AD2BE893AC0}"/>
              </a:ext>
            </a:extLst>
          </p:cNvPr>
          <p:cNvSpPr>
            <a:spLocks noGrp="1"/>
          </p:cNvSpPr>
          <p:nvPr/>
        </p:nvSpPr>
        <p:spPr>
          <a:xfrm>
            <a:off x="3343275" y="6048375"/>
            <a:ext cx="5972175" cy="285750"/>
          </a:xfrm>
          <a:prstGeom prst="rect">
            <a:avLst/>
          </a:prstGeom>
          <a:solidFill>
            <a:srgbClr val="FFFFFF"/>
          </a:solidFill>
          <a:ln w="0">
            <a:noFill/>
            <a:prstDash val="solid"/>
          </a:ln>
        </p:spPr>
        <p:txBody>
          <a:bodyPr/>
          <a:lstStyle/>
          <a:p>
            <a:endParaRPr/>
          </a:p>
        </p:txBody>
      </p:sp>
      <p:sp>
        <p:nvSpPr>
          <p:cNvPr id="87" name="If wrong: the conductor traces feedback back to ">
            <a:extLst>
              <a:ext uri="{FF2B5EF4-FFF2-40B4-BE49-F238E27FC236}">
                <a16:creationId xmlns:a16="http://schemas.microsoft.com/office/drawing/2014/main" id="{6150F857-F94D-41EE-B01A-1B08C63AA618}"/>
              </a:ext>
            </a:extLst>
          </p:cNvPr>
          <p:cNvSpPr>
            <a:spLocks noGrp="1"/>
          </p:cNvSpPr>
          <p:nvPr/>
        </p:nvSpPr>
        <p:spPr>
          <a:xfrm>
            <a:off x="3381375" y="6057900"/>
            <a:ext cx="5895975" cy="295275"/>
          </a:xfrm>
          <a:prstGeom prst="rect">
            <a:avLst/>
          </a:prstGeom>
          <a:noFill/>
          <a:ln w="0">
            <a:noFill/>
          </a:ln>
        </p:spPr>
        <p:txBody>
          <a:bodyPr wrap="square" lIns="0" tIns="0" rIns="0" bIns="0" anchor="t">
            <a:noAutofit/>
          </a:bodyPr>
          <a:lstStyle/>
          <a:p>
            <a:pPr algn="l">
              <a:buNone/>
              <a:defRPr sz="1575" b="0">
                <a:solidFill>
                  <a:srgbClr val="BD402E"/>
                </a:solidFill>
                <a:latin typeface="Arial"/>
                <a:ea typeface="Arial"/>
                <a:cs typeface="Arial"/>
              </a:defRPr>
            </a:pPr>
            <a:r>
              <a:rPr sz="1575" b="0">
                <a:solidFill>
                  <a:srgbClr val="BD402E"/>
                </a:solidFill>
                <a:latin typeface="Arial"/>
                <a:ea typeface="Arial"/>
                <a:cs typeface="Arial"/>
              </a:rPr>
              <a:t>If wrong: the conductor traces feedback back to the agents</a:t>
            </a:r>
          </a:p>
        </p:txBody>
      </p:sp>
      <p:sp>
        <p:nvSpPr>
          <p:cNvPr id="88" name="Source: Li et al. (2025), Section 3.2 and Fig. 5">
            <a:extLst>
              <a:ext uri="{FF2B5EF4-FFF2-40B4-BE49-F238E27FC236}">
                <a16:creationId xmlns:a16="http://schemas.microsoft.com/office/drawing/2014/main" id="{28F8AFF3-E757-4764-8493-DAD70AB1891A}"/>
              </a:ext>
            </a:extLst>
          </p:cNvPr>
          <p:cNvSpPr>
            <a:spLocks noGrp="1"/>
          </p:cNvSpPr>
          <p:nvPr/>
        </p:nvSpPr>
        <p:spPr>
          <a:xfrm>
            <a:off x="628650" y="6477000"/>
            <a:ext cx="10058400" cy="228600"/>
          </a:xfrm>
          <a:prstGeom prst="rect">
            <a:avLst/>
          </a:prstGeom>
          <a:noFill/>
          <a:ln w="0">
            <a:noFill/>
          </a:ln>
        </p:spPr>
        <p:txBody>
          <a:bodyPr wrap="square" lIns="0" tIns="0" rIns="0" bIns="0" anchor="t">
            <a:noAutofit/>
          </a:bodyPr>
          <a:lstStyle/>
          <a:p>
            <a:pPr algn="l">
              <a:buNone/>
              <a:defRPr sz="1200" b="0">
                <a:solidFill>
                  <a:srgbClr val="536875"/>
                </a:solidFill>
                <a:latin typeface="Arial"/>
                <a:ea typeface="Arial"/>
                <a:cs typeface="Arial"/>
              </a:defRPr>
            </a:pPr>
            <a:endParaRPr sz="1200" b="0">
              <a:solidFill>
                <a:srgbClr val="536875"/>
              </a:solidFill>
              <a:latin typeface="Arial"/>
              <a:ea typeface="Arial"/>
              <a:cs typeface="Arial"/>
            </a:endParaRPr>
          </a:p>
        </p:txBody>
      </p:sp>
    </p:spTree>
    <p:extLst>
      <p:ext uri="{BB962C8B-B14F-4D97-AF65-F5344CB8AC3E}">
        <p14:creationId xmlns:p14="http://schemas.microsoft.com/office/powerpoint/2010/main" val="1247610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Method: A checked plan guides the image">
            <a:extLst>
              <a:ext uri="{FF2B5EF4-FFF2-40B4-BE49-F238E27FC236}">
                <a16:creationId xmlns:a16="http://schemas.microsoft.com/office/drawing/2014/main" id="{0C208431-8568-432A-8900-36E64ECE0318}"/>
              </a:ext>
            </a:extLst>
          </p:cNvPr>
          <p:cNvSpPr>
            <a:spLocks noGrp="1"/>
          </p:cNvSpPr>
          <p:nvPr/>
        </p:nvSpPr>
        <p:spPr>
          <a:xfrm>
            <a:off x="628650" y="457200"/>
            <a:ext cx="10934700" cy="609600"/>
          </a:xfrm>
          <a:prstGeom prst="rect">
            <a:avLst/>
          </a:prstGeom>
          <a:noFill/>
          <a:ln w="0">
            <a:noFill/>
          </a:ln>
        </p:spPr>
        <p:txBody>
          <a:bodyPr wrap="square" lIns="0" tIns="0" rIns="0" bIns="0" anchor="t">
            <a:noAutofit/>
          </a:bodyPr>
          <a:lstStyle/>
          <a:p>
            <a:pPr>
              <a:buNone/>
              <a:defRPr sz="3300" b="1">
                <a:solidFill>
                  <a:srgbClr val="183447"/>
                </a:solidFill>
                <a:latin typeface="Arial"/>
                <a:ea typeface="Arial"/>
                <a:cs typeface="Arial"/>
              </a:defRPr>
            </a:pPr>
            <a:r>
              <a:rPr sz="3300" b="1">
                <a:solidFill>
                  <a:srgbClr val="183447"/>
                </a:solidFill>
                <a:latin typeface="Arial"/>
                <a:ea typeface="Arial"/>
                <a:cs typeface="Arial"/>
              </a:rPr>
              <a:t>Method: A checked plan guides the image</a:t>
            </a:r>
          </a:p>
        </p:txBody>
      </p:sp>
      <p:sp>
        <p:nvSpPr>
          <p:cNvPr id="2" name="4 / 5">
            <a:extLst>
              <a:ext uri="{FF2B5EF4-FFF2-40B4-BE49-F238E27FC236}">
                <a16:creationId xmlns:a16="http://schemas.microsoft.com/office/drawing/2014/main" id="{D695B00D-9021-480C-B89A-4B46012195AD}"/>
              </a:ext>
            </a:extLst>
          </p:cNvPr>
          <p:cNvSpPr>
            <a:spLocks noGrp="1"/>
          </p:cNvSpPr>
          <p:nvPr/>
        </p:nvSpPr>
        <p:spPr>
          <a:xfrm>
            <a:off x="10858500" y="6419850"/>
            <a:ext cx="685800" cy="228600"/>
          </a:xfrm>
          <a:prstGeom prst="rect">
            <a:avLst/>
          </a:prstGeom>
          <a:noFill/>
          <a:ln w="0">
            <a:noFill/>
          </a:ln>
        </p:spPr>
        <p:txBody>
          <a:bodyPr wrap="square" lIns="0" tIns="0" rIns="0" bIns="0" anchor="t">
            <a:noAutofit/>
          </a:bodyPr>
          <a:lstStyle/>
          <a:p>
            <a:pPr>
              <a:buNone/>
              <a:defRPr sz="1350" b="0">
                <a:solidFill>
                  <a:srgbClr val="536875"/>
                </a:solidFill>
                <a:latin typeface="Arial"/>
                <a:ea typeface="Arial"/>
                <a:cs typeface="Arial"/>
              </a:defRPr>
            </a:pPr>
            <a:r>
              <a:rPr sz="1350" b="0">
                <a:solidFill>
                  <a:srgbClr val="536875"/>
                </a:solidFill>
                <a:latin typeface="Arial"/>
                <a:ea typeface="Arial"/>
                <a:cs typeface="Arial"/>
              </a:rPr>
              <a:t>4 / 5</a:t>
            </a:r>
          </a:p>
        </p:txBody>
      </p:sp>
      <p:sp>
        <p:nvSpPr>
          <p:cNvPr id="3" name="Prompt: “Drinks stand in a line on the counter. A bartender prep">
            <a:extLst>
              <a:ext uri="{FF2B5EF4-FFF2-40B4-BE49-F238E27FC236}">
                <a16:creationId xmlns:a16="http://schemas.microsoft.com/office/drawing/2014/main" id="{0ADD5353-A19E-4B02-A966-7FFB5CD1C83B}"/>
              </a:ext>
            </a:extLst>
          </p:cNvPr>
          <p:cNvSpPr>
            <a:spLocks noGrp="1"/>
          </p:cNvSpPr>
          <p:nvPr/>
        </p:nvSpPr>
        <p:spPr>
          <a:xfrm>
            <a:off x="628650" y="1266825"/>
            <a:ext cx="10915650" cy="609600"/>
          </a:xfrm>
          <a:prstGeom prst="rect">
            <a:avLst/>
          </a:prstGeom>
          <a:noFill/>
          <a:ln w="0">
            <a:noFill/>
          </a:ln>
        </p:spPr>
        <p:txBody>
          <a:bodyPr wrap="square" lIns="0" tIns="0" rIns="0" bIns="0" anchor="t">
            <a:noAutofit/>
          </a:bodyPr>
          <a:lstStyle/>
          <a:p>
            <a:pPr>
              <a:buNone/>
              <a:defRPr sz="1950" b="0">
                <a:solidFill>
                  <a:srgbClr val="536875"/>
                </a:solidFill>
                <a:latin typeface="Arial"/>
                <a:ea typeface="Arial"/>
                <a:cs typeface="Arial"/>
              </a:defRPr>
            </a:pPr>
            <a:r>
              <a:rPr sz="1950" b="0">
                <a:solidFill>
                  <a:srgbClr val="536875"/>
                </a:solidFill>
                <a:latin typeface="Arial"/>
                <a:ea typeface="Arial"/>
                <a:cs typeface="Arial"/>
              </a:rPr>
              <a:t>Prompt: “Drinks stand in a line on the counter. A bartender prepares another drink.”</a:t>
            </a:r>
          </a:p>
        </p:txBody>
      </p:sp>
      <p:sp>
        <p:nvSpPr>
          <p:cNvPr id="4" name="Object agent">
            <a:extLst>
              <a:ext uri="{FF2B5EF4-FFF2-40B4-BE49-F238E27FC236}">
                <a16:creationId xmlns:a16="http://schemas.microsoft.com/office/drawing/2014/main" id="{766E67BA-4A92-4613-BA15-FFCC4F2F3284}"/>
              </a:ext>
            </a:extLst>
          </p:cNvPr>
          <p:cNvSpPr>
            <a:spLocks noGrp="1"/>
          </p:cNvSpPr>
          <p:nvPr/>
        </p:nvSpPr>
        <p:spPr>
          <a:xfrm>
            <a:off x="628650" y="2171700"/>
            <a:ext cx="4191000" cy="381000"/>
          </a:xfrm>
          <a:prstGeom prst="rect">
            <a:avLst/>
          </a:prstGeom>
          <a:noFill/>
          <a:ln w="0">
            <a:noFill/>
          </a:ln>
        </p:spPr>
        <p:txBody>
          <a:bodyPr wrap="square" lIns="0" tIns="0" rIns="0" bIns="0" anchor="t">
            <a:noAutofit/>
          </a:bodyPr>
          <a:lstStyle/>
          <a:p>
            <a:pPr>
              <a:buNone/>
              <a:defRPr sz="2100" b="1">
                <a:solidFill>
                  <a:srgbClr val="117F85"/>
                </a:solidFill>
                <a:latin typeface="Arial"/>
                <a:ea typeface="Arial"/>
                <a:cs typeface="Arial"/>
              </a:defRPr>
            </a:pPr>
            <a:r>
              <a:rPr sz="2100" b="1">
                <a:solidFill>
                  <a:srgbClr val="117F85"/>
                </a:solidFill>
                <a:latin typeface="Arial"/>
                <a:ea typeface="Arial"/>
                <a:cs typeface="Arial"/>
              </a:rPr>
              <a:t>Object agent</a:t>
            </a:r>
          </a:p>
        </p:txBody>
      </p:sp>
      <p:sp>
        <p:nvSpPr>
          <p:cNvPr id="5" name="bartender, drinks, counter">
            <a:extLst>
              <a:ext uri="{FF2B5EF4-FFF2-40B4-BE49-F238E27FC236}">
                <a16:creationId xmlns:a16="http://schemas.microsoft.com/office/drawing/2014/main" id="{867C3B51-67E5-4321-9947-43DBB57F4940}"/>
              </a:ext>
            </a:extLst>
          </p:cNvPr>
          <p:cNvSpPr>
            <a:spLocks noGrp="1"/>
          </p:cNvSpPr>
          <p:nvPr/>
        </p:nvSpPr>
        <p:spPr>
          <a:xfrm>
            <a:off x="628650" y="2609850"/>
            <a:ext cx="4324350" cy="438150"/>
          </a:xfrm>
          <a:prstGeom prst="rect">
            <a:avLst/>
          </a:prstGeom>
          <a:noFill/>
          <a:ln w="0">
            <a:noFill/>
          </a:ln>
        </p:spPr>
        <p:txBody>
          <a:bodyPr wrap="square" lIns="0" tIns="0" rIns="0" bIns="0" anchor="t">
            <a:noAutofit/>
          </a:bodyPr>
          <a:lstStyle/>
          <a:p>
            <a:pPr>
              <a:buNone/>
              <a:defRPr sz="1950" b="0">
                <a:solidFill>
                  <a:srgbClr val="183447"/>
                </a:solidFill>
                <a:latin typeface="Arial"/>
                <a:ea typeface="Arial"/>
                <a:cs typeface="Arial"/>
              </a:defRPr>
            </a:pPr>
            <a:r>
              <a:rPr sz="1950" b="0">
                <a:solidFill>
                  <a:srgbClr val="183447"/>
                </a:solidFill>
                <a:latin typeface="Arial"/>
                <a:ea typeface="Arial"/>
                <a:cs typeface="Arial"/>
              </a:rPr>
              <a:t>bartender, drinks, counter</a:t>
            </a:r>
          </a:p>
        </p:txBody>
      </p:sp>
      <p:sp>
        <p:nvSpPr>
          <p:cNvPr id="6" name="Action and spatial agents">
            <a:extLst>
              <a:ext uri="{FF2B5EF4-FFF2-40B4-BE49-F238E27FC236}">
                <a16:creationId xmlns:a16="http://schemas.microsoft.com/office/drawing/2014/main" id="{45D0DB83-28E3-4CD3-AF46-7A16F63EDDA8}"/>
              </a:ext>
            </a:extLst>
          </p:cNvPr>
          <p:cNvSpPr>
            <a:spLocks noGrp="1"/>
          </p:cNvSpPr>
          <p:nvPr/>
        </p:nvSpPr>
        <p:spPr>
          <a:xfrm>
            <a:off x="628650" y="3257550"/>
            <a:ext cx="4381500" cy="381000"/>
          </a:xfrm>
          <a:prstGeom prst="rect">
            <a:avLst/>
          </a:prstGeom>
          <a:noFill/>
          <a:ln w="0">
            <a:noFill/>
          </a:ln>
        </p:spPr>
        <p:txBody>
          <a:bodyPr wrap="square" lIns="0" tIns="0" rIns="0" bIns="0" anchor="t">
            <a:noAutofit/>
          </a:bodyPr>
          <a:lstStyle/>
          <a:p>
            <a:pPr>
              <a:buNone/>
              <a:defRPr sz="2100" b="1">
                <a:solidFill>
                  <a:srgbClr val="117F85"/>
                </a:solidFill>
                <a:latin typeface="Arial"/>
                <a:ea typeface="Arial"/>
                <a:cs typeface="Arial"/>
              </a:defRPr>
            </a:pPr>
            <a:r>
              <a:rPr sz="2100" b="1">
                <a:solidFill>
                  <a:srgbClr val="117F85"/>
                </a:solidFill>
                <a:latin typeface="Arial"/>
                <a:ea typeface="Arial"/>
                <a:cs typeface="Arial"/>
              </a:rPr>
              <a:t>Action and spatial agents</a:t>
            </a:r>
          </a:p>
        </p:txBody>
      </p:sp>
      <p:sp>
        <p:nvSpPr>
          <p:cNvPr id="7" name="bartender prepares a drink&#10;drinks on the counter, in a line">
            <a:extLst>
              <a:ext uri="{FF2B5EF4-FFF2-40B4-BE49-F238E27FC236}">
                <a16:creationId xmlns:a16="http://schemas.microsoft.com/office/drawing/2014/main" id="{68AB1548-00F5-4A7C-934A-6EBE031CA411}"/>
              </a:ext>
            </a:extLst>
          </p:cNvPr>
          <p:cNvSpPr>
            <a:spLocks noGrp="1"/>
          </p:cNvSpPr>
          <p:nvPr/>
        </p:nvSpPr>
        <p:spPr>
          <a:xfrm>
            <a:off x="628650" y="3705225"/>
            <a:ext cx="4295775" cy="800100"/>
          </a:xfrm>
          <a:prstGeom prst="rect">
            <a:avLst/>
          </a:prstGeom>
          <a:noFill/>
          <a:ln w="0">
            <a:noFill/>
          </a:ln>
        </p:spPr>
        <p:txBody>
          <a:bodyPr wrap="square" lIns="0" tIns="0" rIns="0" bIns="0" anchor="t">
            <a:noAutofit/>
          </a:bodyPr>
          <a:lstStyle/>
          <a:p>
            <a:pPr>
              <a:buNone/>
              <a:defRPr sz="1950" b="0">
                <a:solidFill>
                  <a:srgbClr val="183447"/>
                </a:solidFill>
                <a:latin typeface="Arial"/>
                <a:ea typeface="Arial"/>
                <a:cs typeface="Arial"/>
              </a:defRPr>
            </a:pPr>
            <a:r>
              <a:rPr sz="1950" b="0">
                <a:solidFill>
                  <a:srgbClr val="183447"/>
                </a:solidFill>
                <a:latin typeface="Arial"/>
                <a:ea typeface="Arial"/>
                <a:cs typeface="Arial"/>
              </a:rPr>
              <a:t>bartender prepares a drink</a:t>
            </a:r>
          </a:p>
          <a:p>
            <a:pPr>
              <a:buNone/>
              <a:defRPr sz="1950" b="0">
                <a:solidFill>
                  <a:srgbClr val="183447"/>
                </a:solidFill>
                <a:latin typeface="Arial"/>
                <a:ea typeface="Arial"/>
                <a:cs typeface="Arial"/>
              </a:defRPr>
            </a:pPr>
            <a:r>
              <a:rPr sz="1950" b="0">
                <a:solidFill>
                  <a:srgbClr val="183447"/>
                </a:solidFill>
                <a:latin typeface="Arial"/>
                <a:ea typeface="Arial"/>
                <a:cs typeface="Arial"/>
              </a:rPr>
              <a:t>drinks on the counter, in a line</a:t>
            </a:r>
          </a:p>
        </p:txBody>
      </p:sp>
      <p:sp>
        <p:nvSpPr>
          <p:cNvPr id="8" name="Checked scene plan">
            <a:extLst>
              <a:ext uri="{FF2B5EF4-FFF2-40B4-BE49-F238E27FC236}">
                <a16:creationId xmlns:a16="http://schemas.microsoft.com/office/drawing/2014/main" id="{8975F69E-22DE-4C81-9CCC-96CAEB84FC7E}"/>
              </a:ext>
            </a:extLst>
          </p:cNvPr>
          <p:cNvSpPr>
            <a:spLocks noGrp="1"/>
          </p:cNvSpPr>
          <p:nvPr/>
        </p:nvSpPr>
        <p:spPr>
          <a:xfrm>
            <a:off x="628650" y="4800600"/>
            <a:ext cx="4324350" cy="390525"/>
          </a:xfrm>
          <a:prstGeom prst="rect">
            <a:avLst/>
          </a:prstGeom>
          <a:noFill/>
          <a:ln w="0">
            <a:noFill/>
          </a:ln>
        </p:spPr>
        <p:txBody>
          <a:bodyPr wrap="square" lIns="0" tIns="0" rIns="0" bIns="0" anchor="t">
            <a:noAutofit/>
          </a:bodyPr>
          <a:lstStyle/>
          <a:p>
            <a:pPr>
              <a:buNone/>
              <a:defRPr sz="2100" b="1">
                <a:solidFill>
                  <a:srgbClr val="117F85"/>
                </a:solidFill>
                <a:latin typeface="Arial"/>
                <a:ea typeface="Arial"/>
                <a:cs typeface="Arial"/>
              </a:defRPr>
            </a:pPr>
            <a:r>
              <a:rPr sz="2100" b="1">
                <a:solidFill>
                  <a:srgbClr val="117F85"/>
                </a:solidFill>
                <a:latin typeface="Arial"/>
                <a:ea typeface="Arial"/>
                <a:cs typeface="Arial"/>
              </a:rPr>
              <a:t>Checked scene plan</a:t>
            </a:r>
          </a:p>
        </p:txBody>
      </p:sp>
      <p:sp>
        <p:nvSpPr>
          <p:cNvPr id="9" name="object text + background&#10;positions + front/back order">
            <a:extLst>
              <a:ext uri="{FF2B5EF4-FFF2-40B4-BE49-F238E27FC236}">
                <a16:creationId xmlns:a16="http://schemas.microsoft.com/office/drawing/2014/main" id="{9435D59D-2514-463D-920B-DA1F22473AA8}"/>
              </a:ext>
            </a:extLst>
          </p:cNvPr>
          <p:cNvSpPr>
            <a:spLocks noGrp="1"/>
          </p:cNvSpPr>
          <p:nvPr/>
        </p:nvSpPr>
        <p:spPr>
          <a:xfrm>
            <a:off x="628650" y="5257800"/>
            <a:ext cx="4381500" cy="723900"/>
          </a:xfrm>
          <a:prstGeom prst="rect">
            <a:avLst/>
          </a:prstGeom>
          <a:noFill/>
          <a:ln w="0">
            <a:noFill/>
          </a:ln>
        </p:spPr>
        <p:txBody>
          <a:bodyPr wrap="square" lIns="0" tIns="0" rIns="0" bIns="0" anchor="t">
            <a:noAutofit/>
          </a:bodyPr>
          <a:lstStyle/>
          <a:p>
            <a:pPr>
              <a:buNone/>
              <a:defRPr sz="1875" b="0">
                <a:solidFill>
                  <a:srgbClr val="183447"/>
                </a:solidFill>
                <a:latin typeface="Arial"/>
                <a:ea typeface="Arial"/>
                <a:cs typeface="Arial"/>
              </a:defRPr>
            </a:pPr>
            <a:r>
              <a:rPr sz="1875" b="0">
                <a:solidFill>
                  <a:srgbClr val="183447"/>
                </a:solidFill>
                <a:latin typeface="Arial"/>
                <a:ea typeface="Arial"/>
                <a:cs typeface="Arial"/>
              </a:rPr>
              <a:t>object text + background</a:t>
            </a:r>
          </a:p>
          <a:p>
            <a:pPr>
              <a:buNone/>
              <a:defRPr sz="1875" b="0">
                <a:solidFill>
                  <a:srgbClr val="183447"/>
                </a:solidFill>
                <a:latin typeface="Arial"/>
                <a:ea typeface="Arial"/>
                <a:cs typeface="Arial"/>
              </a:defRPr>
            </a:pPr>
            <a:r>
              <a:rPr sz="1875" b="0">
                <a:solidFill>
                  <a:srgbClr val="183447"/>
                </a:solidFill>
                <a:latin typeface="Arial"/>
                <a:ea typeface="Arial"/>
                <a:cs typeface="Arial"/>
              </a:rPr>
              <a:t>positions + front/back order</a:t>
            </a:r>
          </a:p>
        </p:txBody>
      </p:sp>
      <p:sp>
        <p:nvSpPr>
          <p:cNvPr id="10" name="Generated scene illustration">
            <a:extLst>
              <a:ext uri="{FF2B5EF4-FFF2-40B4-BE49-F238E27FC236}">
                <a16:creationId xmlns:a16="http://schemas.microsoft.com/office/drawing/2014/main" id="{E6AEEFDD-B4C5-4986-88BF-D8C811EF7A98}"/>
              </a:ext>
            </a:extLst>
          </p:cNvPr>
          <p:cNvSpPr>
            <a:spLocks noGrp="1"/>
          </p:cNvSpPr>
          <p:nvPr/>
        </p:nvSpPr>
        <p:spPr>
          <a:xfrm>
            <a:off x="5638800" y="1895475"/>
            <a:ext cx="5905500" cy="285750"/>
          </a:xfrm>
          <a:prstGeom prst="rect">
            <a:avLst/>
          </a:prstGeom>
          <a:noFill/>
          <a:ln w="0">
            <a:noFill/>
          </a:ln>
        </p:spPr>
        <p:txBody>
          <a:bodyPr wrap="square" lIns="0" tIns="0" rIns="0" bIns="0" anchor="t">
            <a:noAutofit/>
          </a:bodyPr>
          <a:lstStyle/>
          <a:p>
            <a:pPr>
              <a:buNone/>
              <a:defRPr sz="1800" b="1">
                <a:solidFill>
                  <a:srgbClr val="117F85"/>
                </a:solidFill>
                <a:latin typeface="Arial"/>
                <a:ea typeface="Arial"/>
                <a:cs typeface="Arial"/>
              </a:defRPr>
            </a:pPr>
            <a:r>
              <a:rPr sz="1800" b="1">
                <a:solidFill>
                  <a:srgbClr val="117F85"/>
                </a:solidFill>
                <a:latin typeface="Arial"/>
                <a:ea typeface="Arial"/>
                <a:cs typeface="Arial"/>
              </a:rPr>
              <a:t>Generated scene illustration</a:t>
            </a:r>
          </a:p>
        </p:txBody>
      </p:sp>
      <p:pic>
        <p:nvPicPr>
          <p:cNvPr id="71" name="Picture 25"/>
          <p:cNvPicPr>
            <a:picLocks noChangeAspect="1"/>
          </p:cNvPicPr>
          <p:nvPr/>
        </p:nvPicPr>
        <p:blipFill>
          <a:blip r:embed="rId3"/>
          <a:stretch/>
        </p:blipFill>
        <p:spPr>
          <a:xfrm>
            <a:off x="5638802" y="2295525"/>
            <a:ext cx="5905495" cy="3936997"/>
          </a:xfrm>
          <a:prstGeom prst="rect">
            <a:avLst/>
          </a:prstGeom>
        </p:spPr>
      </p:pic>
      <p:sp>
        <p:nvSpPr>
          <p:cNvPr id="12" name="Rectangle 11">
            <a:extLst>
              <a:ext uri="{FF2B5EF4-FFF2-40B4-BE49-F238E27FC236}">
                <a16:creationId xmlns:a16="http://schemas.microsoft.com/office/drawing/2014/main" id="{C4511BE1-2C1B-4F62-B860-3E854D5528A3}"/>
              </a:ext>
            </a:extLst>
          </p:cNvPr>
          <p:cNvSpPr>
            <a:spLocks noGrp="1"/>
          </p:cNvSpPr>
          <p:nvPr/>
        </p:nvSpPr>
        <p:spPr>
          <a:xfrm>
            <a:off x="4838700" y="5153025"/>
            <a:ext cx="1905" cy="1905"/>
          </a:xfrm>
          <a:prstGeom prst="rect">
            <a:avLst/>
          </a:prstGeom>
          <a:noFill/>
          <a:ln w="0">
            <a:noFill/>
          </a:ln>
        </p:spPr>
        <p:txBody>
          <a:bodyPr/>
          <a:lstStyle/>
          <a:p>
            <a:endParaRPr/>
          </a:p>
        </p:txBody>
      </p:sp>
      <p:sp>
        <p:nvSpPr>
          <p:cNvPr id="13" name="Rectangle 12">
            <a:extLst>
              <a:ext uri="{FF2B5EF4-FFF2-40B4-BE49-F238E27FC236}">
                <a16:creationId xmlns:a16="http://schemas.microsoft.com/office/drawing/2014/main" id="{CAD25DFB-2BAD-4E82-AD21-78020741C6C0}"/>
              </a:ext>
            </a:extLst>
          </p:cNvPr>
          <p:cNvSpPr>
            <a:spLocks noGrp="1"/>
          </p:cNvSpPr>
          <p:nvPr/>
        </p:nvSpPr>
        <p:spPr>
          <a:xfrm>
            <a:off x="5572125" y="5153025"/>
            <a:ext cx="1905" cy="1905"/>
          </a:xfrm>
          <a:prstGeom prst="rect">
            <a:avLst/>
          </a:prstGeom>
          <a:noFill/>
          <a:ln w="0">
            <a:noFill/>
          </a:ln>
        </p:spPr>
        <p:txBody>
          <a:bodyPr/>
          <a:lstStyle/>
          <a:p>
            <a:endParaRPr/>
          </a:p>
        </p:txBody>
      </p:sp>
      <p:cxnSp>
        <p:nvCxnSpPr>
          <p:cNvPr id="74" name="Straight Arrow Connector 28"/>
          <p:cNvCxnSpPr>
            <a:stCxn id="12" idx="3"/>
            <a:endCxn id="13" idx="1"/>
          </p:cNvCxnSpPr>
          <p:nvPr/>
        </p:nvCxnSpPr>
        <p:spPr>
          <a:xfrm>
            <a:off x="4840605" y="5153978"/>
            <a:ext cx="731520" cy="0"/>
          </a:xfrm>
          <a:prstGeom prst="straightConnector1">
            <a:avLst/>
          </a:prstGeom>
          <a:ln w="25718">
            <a:solidFill>
              <a:srgbClr val="117F85"/>
            </a:solidFill>
            <a:tailEnd type="triangle" w="med" len="med"/>
          </a:ln>
        </p:spPr>
      </p:cxnSp>
      <p:sp>
        <p:nvSpPr>
          <p:cNvPr id="15" name="Method: Li et al. (2025), Sections 3.2–3.3. Image: AI-generated ">
            <a:extLst>
              <a:ext uri="{FF2B5EF4-FFF2-40B4-BE49-F238E27FC236}">
                <a16:creationId xmlns:a16="http://schemas.microsoft.com/office/drawing/2014/main" id="{804F8EF6-22FB-430B-AD3D-E1D6B258FCF8}"/>
              </a:ext>
            </a:extLst>
          </p:cNvPr>
          <p:cNvSpPr>
            <a:spLocks noGrp="1"/>
          </p:cNvSpPr>
          <p:nvPr/>
        </p:nvSpPr>
        <p:spPr>
          <a:xfrm>
            <a:off x="628650" y="6515100"/>
            <a:ext cx="10001250" cy="228600"/>
          </a:xfrm>
          <a:prstGeom prst="rect">
            <a:avLst/>
          </a:prstGeom>
          <a:noFill/>
          <a:ln w="0">
            <a:noFill/>
          </a:ln>
        </p:spPr>
        <p:txBody>
          <a:bodyPr wrap="square" lIns="0" tIns="0" rIns="0" bIns="0" anchor="t">
            <a:noAutofit/>
          </a:bodyPr>
          <a:lstStyle/>
          <a:p>
            <a:pPr>
              <a:buNone/>
              <a:defRPr sz="1200" b="0">
                <a:solidFill>
                  <a:srgbClr val="536875"/>
                </a:solidFill>
                <a:latin typeface="Arial"/>
                <a:ea typeface="Arial"/>
                <a:cs typeface="Arial"/>
              </a:defRPr>
            </a:pPr>
            <a:endParaRPr sz="1200" b="0">
              <a:solidFill>
                <a:srgbClr val="536875"/>
              </a:solidFill>
              <a:latin typeface="Arial"/>
              <a:ea typeface="Arial"/>
              <a:cs typeface="Arial"/>
            </a:endParaRPr>
          </a:p>
        </p:txBody>
      </p:sp>
    </p:spTree>
    <p:extLst>
      <p:ext uri="{BB962C8B-B14F-4D97-AF65-F5344CB8AC3E}">
        <p14:creationId xmlns:p14="http://schemas.microsoft.com/office/powerpoint/2010/main" val="808109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508191F-FD31-4336-92AB-4E2836836471}"/>
              </a:ext>
            </a:extLst>
          </p:cNvPr>
          <p:cNvSpPr>
            <a:spLocks noGrp="1"/>
          </p:cNvSpPr>
          <p:nvPr/>
        </p:nvSpPr>
        <p:spPr>
          <a:xfrm>
            <a:off x="628650" y="457200"/>
            <a:ext cx="10839450" cy="609600"/>
          </a:xfrm>
          <a:prstGeom prst="rect">
            <a:avLst/>
          </a:prstGeom>
          <a:noFill/>
          <a:ln w="0">
            <a:noFill/>
          </a:ln>
        </p:spPr>
        <p:txBody>
          <a:bodyPr wrap="square" lIns="0" tIns="0" rIns="0" bIns="0" anchor="t">
            <a:noAutofit/>
          </a:bodyPr>
          <a:lstStyle/>
          <a:p>
            <a:pPr>
              <a:buNone/>
              <a:defRPr sz="3300" b="1">
                <a:solidFill>
                  <a:srgbClr val="183447"/>
                </a:solidFill>
                <a:latin typeface="Arial"/>
                <a:ea typeface="Arial"/>
                <a:cs typeface="Arial"/>
              </a:defRPr>
            </a:pPr>
            <a:r>
              <a:rPr sz="3300" b="1">
                <a:solidFill>
                  <a:srgbClr val="183447"/>
                </a:solidFill>
                <a:latin typeface="Arial"/>
                <a:ea typeface="Arial"/>
                <a:cs typeface="Arial"/>
              </a:rPr>
              <a:t>Data and evaluation</a:t>
            </a:r>
          </a:p>
        </p:txBody>
      </p:sp>
      <p:sp>
        <p:nvSpPr>
          <p:cNvPr id="2" name="Rectangle 1">
            <a:extLst>
              <a:ext uri="{FF2B5EF4-FFF2-40B4-BE49-F238E27FC236}">
                <a16:creationId xmlns:a16="http://schemas.microsoft.com/office/drawing/2014/main" id="{8CE2E651-8000-4717-9CAA-A70ED9A55830}"/>
              </a:ext>
            </a:extLst>
          </p:cNvPr>
          <p:cNvSpPr>
            <a:spLocks noGrp="1"/>
          </p:cNvSpPr>
          <p:nvPr/>
        </p:nvSpPr>
        <p:spPr>
          <a:xfrm>
            <a:off x="10858500" y="6334125"/>
            <a:ext cx="685800" cy="228600"/>
          </a:xfrm>
          <a:prstGeom prst="rect">
            <a:avLst/>
          </a:prstGeom>
          <a:noFill/>
          <a:ln w="0">
            <a:noFill/>
          </a:ln>
        </p:spPr>
        <p:txBody>
          <a:bodyPr wrap="square" lIns="0" tIns="0" rIns="0" bIns="0" anchor="t">
            <a:noAutofit/>
          </a:bodyPr>
          <a:lstStyle/>
          <a:p>
            <a:pPr>
              <a:buNone/>
              <a:defRPr sz="1350" b="0">
                <a:solidFill>
                  <a:srgbClr val="536875"/>
                </a:solidFill>
                <a:latin typeface="Arial"/>
                <a:ea typeface="Arial"/>
                <a:cs typeface="Arial"/>
              </a:defRPr>
            </a:pPr>
            <a:r>
              <a:rPr sz="1350" b="0">
                <a:solidFill>
                  <a:srgbClr val="536875"/>
                </a:solidFill>
                <a:latin typeface="Arial"/>
                <a:ea typeface="Arial"/>
                <a:cs typeface="Arial"/>
              </a:rPr>
              <a:t>5 / 5</a:t>
            </a:r>
          </a:p>
        </p:txBody>
      </p:sp>
      <p:sp>
        <p:nvSpPr>
          <p:cNvPr id="3" name="Rectangle 2">
            <a:extLst>
              <a:ext uri="{FF2B5EF4-FFF2-40B4-BE49-F238E27FC236}">
                <a16:creationId xmlns:a16="http://schemas.microsoft.com/office/drawing/2014/main" id="{8FEF80BA-5867-4643-8C19-3001D4288C52}"/>
              </a:ext>
            </a:extLst>
          </p:cNvPr>
          <p:cNvSpPr>
            <a:spLocks noGrp="1"/>
          </p:cNvSpPr>
          <p:nvPr/>
        </p:nvSpPr>
        <p:spPr>
          <a:xfrm>
            <a:off x="628650" y="1438275"/>
            <a:ext cx="4857750" cy="514350"/>
          </a:xfrm>
          <a:prstGeom prst="rect">
            <a:avLst/>
          </a:prstGeom>
          <a:noFill/>
          <a:ln w="0">
            <a:noFill/>
          </a:ln>
        </p:spPr>
        <p:txBody>
          <a:bodyPr wrap="square" lIns="0" tIns="0" rIns="0" bIns="0" anchor="t">
            <a:noAutofit/>
          </a:bodyPr>
          <a:lstStyle/>
          <a:p>
            <a:pPr>
              <a:buNone/>
              <a:defRPr sz="2700" b="1">
                <a:solidFill>
                  <a:srgbClr val="117F85"/>
                </a:solidFill>
                <a:latin typeface="Arial"/>
                <a:ea typeface="Arial"/>
                <a:cs typeface="Arial"/>
              </a:defRPr>
            </a:pPr>
            <a:r>
              <a:rPr sz="2700" b="1">
                <a:solidFill>
                  <a:srgbClr val="117F85"/>
                </a:solidFill>
                <a:latin typeface="Arial"/>
                <a:ea typeface="Arial"/>
                <a:cs typeface="Arial"/>
              </a:rPr>
              <a:t>T2I-CompBench</a:t>
            </a:r>
          </a:p>
        </p:txBody>
      </p:sp>
      <p:sp>
        <p:nvSpPr>
          <p:cNvPr id="4" name="Rectangle 3">
            <a:extLst>
              <a:ext uri="{FF2B5EF4-FFF2-40B4-BE49-F238E27FC236}">
                <a16:creationId xmlns:a16="http://schemas.microsoft.com/office/drawing/2014/main" id="{259BF7DC-9295-4524-82BB-53F3C78B004A}"/>
              </a:ext>
            </a:extLst>
          </p:cNvPr>
          <p:cNvSpPr>
            <a:spLocks noGrp="1"/>
          </p:cNvSpPr>
          <p:nvPr/>
        </p:nvSpPr>
        <p:spPr>
          <a:xfrm>
            <a:off x="628650" y="2343150"/>
            <a:ext cx="4857750" cy="647700"/>
          </a:xfrm>
          <a:prstGeom prst="rect">
            <a:avLst/>
          </a:prstGeom>
          <a:noFill/>
          <a:ln w="0">
            <a:noFill/>
          </a:ln>
        </p:spPr>
        <p:txBody>
          <a:bodyPr wrap="square" lIns="0" tIns="0" rIns="0" bIns="0" anchor="t">
            <a:noAutofit/>
          </a:bodyPr>
          <a:lstStyle/>
          <a:p>
            <a:pPr>
              <a:buNone/>
              <a:defRPr sz="3150" b="1">
                <a:solidFill>
                  <a:srgbClr val="183447"/>
                </a:solidFill>
                <a:latin typeface="Arial"/>
                <a:ea typeface="Arial"/>
                <a:cs typeface="Arial"/>
              </a:defRPr>
            </a:pPr>
            <a:r>
              <a:rPr sz="3150" b="1">
                <a:solidFill>
                  <a:srgbClr val="183447"/>
                </a:solidFill>
                <a:latin typeface="Arial"/>
                <a:ea typeface="Arial"/>
                <a:cs typeface="Arial"/>
              </a:rPr>
              <a:t>6 test categories</a:t>
            </a:r>
          </a:p>
        </p:txBody>
      </p:sp>
      <p:sp>
        <p:nvSpPr>
          <p:cNvPr id="5" name="Rectangle 4">
            <a:extLst>
              <a:ext uri="{FF2B5EF4-FFF2-40B4-BE49-F238E27FC236}">
                <a16:creationId xmlns:a16="http://schemas.microsoft.com/office/drawing/2014/main" id="{140E0331-874F-4F0F-9E72-35406E16AEDF}"/>
              </a:ext>
            </a:extLst>
          </p:cNvPr>
          <p:cNvSpPr>
            <a:spLocks noGrp="1"/>
          </p:cNvSpPr>
          <p:nvPr/>
        </p:nvSpPr>
        <p:spPr>
          <a:xfrm>
            <a:off x="628650" y="3324225"/>
            <a:ext cx="4695825" cy="1000125"/>
          </a:xfrm>
          <a:prstGeom prst="rect">
            <a:avLst/>
          </a:prstGeom>
          <a:noFill/>
          <a:ln w="0">
            <a:noFill/>
          </a:ln>
        </p:spPr>
        <p:txBody>
          <a:bodyPr wrap="square" lIns="0" tIns="0" rIns="0" bIns="0" anchor="t">
            <a:noAutofit/>
          </a:bodyPr>
          <a:lstStyle/>
          <a:p>
            <a:pPr>
              <a:buNone/>
              <a:defRPr sz="2175" b="0">
                <a:solidFill>
                  <a:srgbClr val="183447"/>
                </a:solidFill>
                <a:latin typeface="Arial"/>
                <a:ea typeface="Arial"/>
                <a:cs typeface="Arial"/>
              </a:defRPr>
            </a:pPr>
            <a:r>
              <a:rPr sz="2175" b="0">
                <a:solidFill>
                  <a:srgbClr val="183447"/>
                </a:solidFill>
                <a:latin typeface="Arial"/>
                <a:ea typeface="Arial"/>
                <a:cs typeface="Arial"/>
              </a:rPr>
              <a:t>300 prompts per category</a:t>
            </a:r>
          </a:p>
          <a:p>
            <a:pPr>
              <a:buNone/>
              <a:defRPr sz="2175" b="0">
                <a:solidFill>
                  <a:srgbClr val="183447"/>
                </a:solidFill>
                <a:latin typeface="Arial"/>
                <a:ea typeface="Arial"/>
                <a:cs typeface="Arial"/>
              </a:defRPr>
            </a:pPr>
            <a:r>
              <a:rPr sz="2175" b="0">
                <a:solidFill>
                  <a:srgbClr val="183447"/>
                </a:solidFill>
                <a:latin typeface="Arial"/>
                <a:ea typeface="Arial"/>
                <a:cs typeface="Arial"/>
              </a:rPr>
              <a:t>10 images per prompt</a:t>
            </a:r>
          </a:p>
        </p:txBody>
      </p:sp>
      <p:sp>
        <p:nvSpPr>
          <p:cNvPr id="6" name="Rectangle 5">
            <a:extLst>
              <a:ext uri="{FF2B5EF4-FFF2-40B4-BE49-F238E27FC236}">
                <a16:creationId xmlns:a16="http://schemas.microsoft.com/office/drawing/2014/main" id="{6502AA16-245A-4EDE-B0FB-88866C4F0A41}"/>
              </a:ext>
            </a:extLst>
          </p:cNvPr>
          <p:cNvSpPr>
            <a:spLocks noGrp="1"/>
          </p:cNvSpPr>
          <p:nvPr/>
        </p:nvSpPr>
        <p:spPr>
          <a:xfrm>
            <a:off x="628650" y="4819650"/>
            <a:ext cx="4695825" cy="838200"/>
          </a:xfrm>
          <a:prstGeom prst="rect">
            <a:avLst/>
          </a:prstGeom>
          <a:noFill/>
          <a:ln w="0">
            <a:noFill/>
          </a:ln>
        </p:spPr>
        <p:txBody>
          <a:bodyPr wrap="square" lIns="0" tIns="0" rIns="0" bIns="0" anchor="t">
            <a:noAutofit/>
          </a:bodyPr>
          <a:lstStyle/>
          <a:p>
            <a:pPr>
              <a:buNone/>
              <a:defRPr sz="1875" b="0">
                <a:solidFill>
                  <a:srgbClr val="536875"/>
                </a:solidFill>
                <a:latin typeface="Arial"/>
                <a:ea typeface="Arial"/>
                <a:cs typeface="Arial"/>
              </a:defRPr>
            </a:pPr>
            <a:r>
              <a:rPr sz="1875" b="0">
                <a:solidFill>
                  <a:srgbClr val="536875"/>
                </a:solidFill>
                <a:latin typeface="Arial"/>
                <a:ea typeface="Arial"/>
                <a:cs typeface="Arial"/>
              </a:rPr>
              <a:t>Scores measure how well the</a:t>
            </a:r>
          </a:p>
          <a:p>
            <a:pPr>
              <a:buNone/>
              <a:defRPr sz="1875" b="0">
                <a:solidFill>
                  <a:srgbClr val="536875"/>
                </a:solidFill>
                <a:latin typeface="Arial"/>
                <a:ea typeface="Arial"/>
                <a:cs typeface="Arial"/>
              </a:defRPr>
            </a:pPr>
            <a:r>
              <a:rPr sz="1875" b="0">
                <a:solidFill>
                  <a:srgbClr val="536875"/>
                </a:solidFill>
                <a:latin typeface="Arial"/>
                <a:ea typeface="Arial"/>
                <a:cs typeface="Arial"/>
              </a:rPr>
              <a:t>final images follow the text.</a:t>
            </a:r>
          </a:p>
        </p:txBody>
      </p:sp>
      <p:graphicFrame>
        <p:nvGraphicFramePr>
          <p:cNvPr id="20" name="Table 15"/>
          <p:cNvGraphicFramePr/>
          <p:nvPr/>
        </p:nvGraphicFramePr>
        <p:xfrm>
          <a:off x="5591175" y="1428750"/>
          <a:ext cx="5953125" cy="3714750"/>
        </p:xfrm>
        <a:graphic>
          <a:graphicData uri="http://schemas.openxmlformats.org/drawingml/2006/table">
            <a:tbl>
              <a:tblPr/>
              <a:tblGrid>
                <a:gridCol w="3248025">
                  <a:extLst>
                    <a:ext uri="{9D8B030D-6E8A-4147-A177-3AD203B41FA5}">
                      <a16:colId xmlns:a16="http://schemas.microsoft.com/office/drawing/2014/main" val="20000"/>
                    </a:ext>
                  </a:extLst>
                </a:gridCol>
                <a:gridCol w="2705100">
                  <a:extLst>
                    <a:ext uri="{9D8B030D-6E8A-4147-A177-3AD203B41FA5}">
                      <a16:colId xmlns:a16="http://schemas.microsoft.com/office/drawing/2014/main" val="20001"/>
                    </a:ext>
                  </a:extLst>
                </a:gridCol>
              </a:tblGrid>
              <a:tr h="590550">
                <a:tc>
                  <a:txBody>
                    <a:bodyPr/>
                    <a:lstStyle/>
                    <a:p>
                      <a:r>
                        <a:rPr sz="1800" b="1">
                          <a:solidFill>
                            <a:srgbClr val="FFFFFF"/>
                          </a:solidFill>
                          <a:latin typeface="Arial"/>
                          <a:ea typeface="Arial"/>
                          <a:cs typeface="Arial"/>
                        </a:rPr>
                        <a:t>What we check</a:t>
                      </a:r>
                    </a:p>
                  </a:txBody>
                  <a:tcPr marL="133350" marR="152400" marT="133350" marB="133350" anchor="ctr">
                    <a:solidFill>
                      <a:srgbClr val="117F85"/>
                    </a:solidFill>
                  </a:tcPr>
                </a:tc>
                <a:tc>
                  <a:txBody>
                    <a:bodyPr/>
                    <a:lstStyle/>
                    <a:p>
                      <a:r>
                        <a:rPr sz="1800" b="1">
                          <a:solidFill>
                            <a:srgbClr val="FFFFFF"/>
                          </a:solidFill>
                          <a:latin typeface="Arial"/>
                          <a:ea typeface="Arial"/>
                          <a:cs typeface="Arial"/>
                        </a:rPr>
                        <a:t>Measure</a:t>
                      </a:r>
                    </a:p>
                  </a:txBody>
                  <a:tcPr marL="133350" marR="152400" marT="133350" marB="133350" anchor="ctr">
                    <a:solidFill>
                      <a:srgbClr val="117F85"/>
                    </a:solidFill>
                  </a:tcPr>
                </a:tc>
                <a:extLst>
                  <a:ext uri="{0D108BD9-81ED-4DB2-BD59-A6C34878D82A}">
                    <a16:rowId xmlns:a16="http://schemas.microsoft.com/office/drawing/2014/main" val="10000"/>
                  </a:ext>
                </a:extLst>
              </a:tr>
              <a:tr h="781050">
                <a:tc>
                  <a:txBody>
                    <a:bodyPr/>
                    <a:lstStyle/>
                    <a:p>
                      <a:r>
                        <a:rPr sz="1875">
                          <a:solidFill>
                            <a:srgbClr val="183447"/>
                          </a:solidFill>
                          <a:latin typeface="Arial"/>
                          <a:ea typeface="Arial"/>
                          <a:cs typeface="Arial"/>
                        </a:rPr>
                        <a:t>Color, shape, texture</a:t>
                      </a:r>
                    </a:p>
                  </a:txBody>
                  <a:tcPr marL="133350" marR="152400" marT="133350" marB="133350" anchor="ctr">
                    <a:solidFill>
                      <a:srgbClr val="FFFFFF"/>
                    </a:solidFill>
                  </a:tcPr>
                </a:tc>
                <a:tc>
                  <a:txBody>
                    <a:bodyPr/>
                    <a:lstStyle/>
                    <a:p>
                      <a:r>
                        <a:rPr sz="1875">
                          <a:solidFill>
                            <a:srgbClr val="183447"/>
                          </a:solidFill>
                          <a:latin typeface="Arial"/>
                          <a:ea typeface="Arial"/>
                          <a:cs typeface="Arial"/>
                        </a:rPr>
                        <a:t>BLIP-VQA</a:t>
                      </a:r>
                    </a:p>
                  </a:txBody>
                  <a:tcPr marL="133350" marR="152400" marT="133350" marB="133350" anchor="ctr">
                    <a:solidFill>
                      <a:srgbClr val="FFFFFF"/>
                    </a:solidFill>
                  </a:tcPr>
                </a:tc>
                <a:extLst>
                  <a:ext uri="{0D108BD9-81ED-4DB2-BD59-A6C34878D82A}">
                    <a16:rowId xmlns:a16="http://schemas.microsoft.com/office/drawing/2014/main" val="10001"/>
                  </a:ext>
                </a:extLst>
              </a:tr>
              <a:tr h="781050">
                <a:tc>
                  <a:txBody>
                    <a:bodyPr/>
                    <a:lstStyle/>
                    <a:p>
                      <a:r>
                        <a:rPr sz="1875">
                          <a:solidFill>
                            <a:srgbClr val="183447"/>
                          </a:solidFill>
                          <a:latin typeface="Arial"/>
                          <a:ea typeface="Arial"/>
                          <a:cs typeface="Arial"/>
                        </a:rPr>
                        <a:t>Spatial relations</a:t>
                      </a:r>
                    </a:p>
                  </a:txBody>
                  <a:tcPr marL="133350" marR="152400" marT="133350" marB="133350" anchor="ctr">
                    <a:solidFill>
                      <a:srgbClr val="FFFFFF"/>
                    </a:solidFill>
                  </a:tcPr>
                </a:tc>
                <a:tc>
                  <a:txBody>
                    <a:bodyPr/>
                    <a:lstStyle/>
                    <a:p>
                      <a:r>
                        <a:rPr sz="1875">
                          <a:solidFill>
                            <a:srgbClr val="183447"/>
                          </a:solidFill>
                          <a:latin typeface="Arial"/>
                          <a:ea typeface="Arial"/>
                          <a:cs typeface="Arial"/>
                        </a:rPr>
                        <a:t>UniDet</a:t>
                      </a:r>
                    </a:p>
                  </a:txBody>
                  <a:tcPr marL="133350" marR="152400" marT="133350" marB="133350" anchor="ctr">
                    <a:solidFill>
                      <a:srgbClr val="FFFFFF"/>
                    </a:solidFill>
                  </a:tcPr>
                </a:tc>
                <a:extLst>
                  <a:ext uri="{0D108BD9-81ED-4DB2-BD59-A6C34878D82A}">
                    <a16:rowId xmlns:a16="http://schemas.microsoft.com/office/drawing/2014/main" val="10002"/>
                  </a:ext>
                </a:extLst>
              </a:tr>
              <a:tr h="781050">
                <a:tc>
                  <a:txBody>
                    <a:bodyPr/>
                    <a:lstStyle/>
                    <a:p>
                      <a:r>
                        <a:rPr sz="1875">
                          <a:solidFill>
                            <a:srgbClr val="183447"/>
                          </a:solidFill>
                          <a:latin typeface="Arial"/>
                          <a:ea typeface="Arial"/>
                          <a:cs typeface="Arial"/>
                        </a:rPr>
                        <a:t>Other relations</a:t>
                      </a:r>
                    </a:p>
                  </a:txBody>
                  <a:tcPr marL="133350" marR="152400" marT="133350" marB="133350" anchor="ctr">
                    <a:solidFill>
                      <a:srgbClr val="FFFFFF"/>
                    </a:solidFill>
                  </a:tcPr>
                </a:tc>
                <a:tc>
                  <a:txBody>
                    <a:bodyPr/>
                    <a:lstStyle/>
                    <a:p>
                      <a:r>
                        <a:rPr sz="1875">
                          <a:solidFill>
                            <a:srgbClr val="183447"/>
                          </a:solidFill>
                          <a:latin typeface="Arial"/>
                          <a:ea typeface="Arial"/>
                          <a:cs typeface="Arial"/>
                        </a:rPr>
                        <a:t>CLIP-Score</a:t>
                      </a:r>
                    </a:p>
                  </a:txBody>
                  <a:tcPr marL="133350" marR="152400" marT="133350" marB="133350" anchor="ctr">
                    <a:solidFill>
                      <a:srgbClr val="FFFFFF"/>
                    </a:solidFill>
                  </a:tcPr>
                </a:tc>
                <a:extLst>
                  <a:ext uri="{0D108BD9-81ED-4DB2-BD59-A6C34878D82A}">
                    <a16:rowId xmlns:a16="http://schemas.microsoft.com/office/drawing/2014/main" val="10003"/>
                  </a:ext>
                </a:extLst>
              </a:tr>
              <a:tr h="781050">
                <a:tc>
                  <a:txBody>
                    <a:bodyPr/>
                    <a:lstStyle/>
                    <a:p>
                      <a:r>
                        <a:rPr sz="1875">
                          <a:solidFill>
                            <a:srgbClr val="183447"/>
                          </a:solidFill>
                          <a:latin typeface="Arial"/>
                          <a:ea typeface="Arial"/>
                          <a:cs typeface="Arial"/>
                        </a:rPr>
                        <a:t>Complex prompts</a:t>
                      </a:r>
                    </a:p>
                  </a:txBody>
                  <a:tcPr marL="133350" marR="152400" marT="133350" marB="133350" anchor="ctr">
                    <a:solidFill>
                      <a:srgbClr val="FFFFFF"/>
                    </a:solidFill>
                  </a:tcPr>
                </a:tc>
                <a:tc>
                  <a:txBody>
                    <a:bodyPr/>
                    <a:lstStyle/>
                    <a:p>
                      <a:r>
                        <a:rPr sz="1875">
                          <a:solidFill>
                            <a:srgbClr val="183447"/>
                          </a:solidFill>
                          <a:latin typeface="Arial"/>
                          <a:ea typeface="Arial"/>
                          <a:cs typeface="Arial"/>
                        </a:rPr>
                        <a:t>Combined score</a:t>
                      </a:r>
                    </a:p>
                  </a:txBody>
                  <a:tcPr marL="133350" marR="152400" marT="133350" marB="133350" anchor="ctr">
                    <a:solidFill>
                      <a:srgbClr val="FFFFFF"/>
                    </a:solidFill>
                  </a:tcPr>
                </a:tc>
                <a:extLst>
                  <a:ext uri="{0D108BD9-81ED-4DB2-BD59-A6C34878D82A}">
                    <a16:rowId xmlns:a16="http://schemas.microsoft.com/office/drawing/2014/main" val="10004"/>
                  </a:ext>
                </a:extLst>
              </a:tr>
            </a:tbl>
          </a:graphicData>
        </a:graphic>
      </p:graphicFrame>
      <p:sp>
        <p:nvSpPr>
          <p:cNvPr id="8" name="Rectangle 7">
            <a:extLst>
              <a:ext uri="{FF2B5EF4-FFF2-40B4-BE49-F238E27FC236}">
                <a16:creationId xmlns:a16="http://schemas.microsoft.com/office/drawing/2014/main" id="{9CB70205-E5E1-4632-98EA-907F2D724A94}"/>
              </a:ext>
            </a:extLst>
          </p:cNvPr>
          <p:cNvSpPr>
            <a:spLocks noGrp="1"/>
          </p:cNvSpPr>
          <p:nvPr/>
        </p:nvSpPr>
        <p:spPr>
          <a:xfrm>
            <a:off x="5591175" y="5457825"/>
            <a:ext cx="5953125" cy="781050"/>
          </a:xfrm>
          <a:prstGeom prst="rect">
            <a:avLst/>
          </a:prstGeom>
          <a:noFill/>
          <a:ln w="0">
            <a:noFill/>
          </a:ln>
        </p:spPr>
        <p:txBody>
          <a:bodyPr wrap="square" lIns="0" tIns="0" rIns="0" bIns="0" anchor="t">
            <a:noAutofit/>
          </a:bodyPr>
          <a:lstStyle/>
          <a:p>
            <a:pPr>
              <a:buNone/>
              <a:defRPr sz="1725" b="1">
                <a:solidFill>
                  <a:srgbClr val="117F85"/>
                </a:solidFill>
                <a:latin typeface="Arial"/>
                <a:ea typeface="Arial"/>
                <a:cs typeface="Arial"/>
              </a:defRPr>
            </a:pPr>
            <a:r>
              <a:rPr sz="1725" b="1">
                <a:solidFill>
                  <a:srgbClr val="117F85"/>
                </a:solidFill>
                <a:latin typeface="Arial"/>
                <a:ea typeface="Arial"/>
                <a:cs typeface="Arial"/>
              </a:rPr>
              <a:t>Full system: with / without planning and region control.</a:t>
            </a:r>
          </a:p>
          <a:p>
            <a:pPr>
              <a:buNone/>
              <a:defRPr sz="1725" b="1">
                <a:solidFill>
                  <a:srgbClr val="117F85"/>
                </a:solidFill>
                <a:latin typeface="Arial"/>
                <a:ea typeface="Arial"/>
                <a:cs typeface="Arial"/>
              </a:defRPr>
            </a:pPr>
            <a:r>
              <a:rPr sz="1725" b="1">
                <a:solidFill>
                  <a:srgbClr val="117F85"/>
                </a:solidFill>
                <a:latin typeface="Arial"/>
                <a:ea typeface="Arial"/>
                <a:cs typeface="Arial"/>
              </a:rPr>
              <a:t>Agent check: compare images after removing planning.</a:t>
            </a:r>
          </a:p>
        </p:txBody>
      </p:sp>
      <p:sp>
        <p:nvSpPr>
          <p:cNvPr id="9" name="Rectangle 8">
            <a:extLst>
              <a:ext uri="{FF2B5EF4-FFF2-40B4-BE49-F238E27FC236}">
                <a16:creationId xmlns:a16="http://schemas.microsoft.com/office/drawing/2014/main" id="{C12AD2B4-C80A-4BC4-AB46-5AE8592DD5CB}"/>
              </a:ext>
            </a:extLst>
          </p:cNvPr>
          <p:cNvSpPr>
            <a:spLocks noGrp="1"/>
          </p:cNvSpPr>
          <p:nvPr/>
        </p:nvSpPr>
        <p:spPr>
          <a:xfrm>
            <a:off x="628650" y="6334125"/>
            <a:ext cx="10001250" cy="238125"/>
          </a:xfrm>
          <a:prstGeom prst="rect">
            <a:avLst/>
          </a:prstGeom>
          <a:noFill/>
          <a:ln w="0">
            <a:noFill/>
          </a:ln>
        </p:spPr>
        <p:txBody>
          <a:bodyPr wrap="square" lIns="0" tIns="0" rIns="0" bIns="0" anchor="t">
            <a:noAutofit/>
          </a:bodyPr>
          <a:lstStyle/>
          <a:p>
            <a:pPr>
              <a:buNone/>
              <a:defRPr sz="1275" b="0">
                <a:solidFill>
                  <a:srgbClr val="536875"/>
                </a:solidFill>
                <a:latin typeface="Arial"/>
                <a:ea typeface="Arial"/>
                <a:cs typeface="Arial"/>
              </a:defRPr>
            </a:pPr>
            <a:endParaRPr sz="1275" b="0">
              <a:solidFill>
                <a:srgbClr val="536875"/>
              </a:solidFill>
              <a:latin typeface="Arial"/>
              <a:ea typeface="Arial"/>
              <a:cs typeface="Arial"/>
            </a:endParaRPr>
          </a:p>
        </p:txBody>
      </p:sp>
      <p:sp>
        <p:nvSpPr>
          <p:cNvPr id="12" name="Rectangle 11">
            <a:extLst>
              <a:ext uri="{FF2B5EF4-FFF2-40B4-BE49-F238E27FC236}">
                <a16:creationId xmlns:a16="http://schemas.microsoft.com/office/drawing/2014/main" id="{17028AD3-7420-438D-92C9-DC939362E3F4}"/>
              </a:ext>
            </a:extLst>
          </p:cNvPr>
          <p:cNvSpPr>
            <a:spLocks noGrp="1"/>
          </p:cNvSpPr>
          <p:nvPr/>
        </p:nvSpPr>
        <p:spPr>
          <a:xfrm>
            <a:off x="628650" y="6496050"/>
            <a:ext cx="10001250" cy="219075"/>
          </a:xfrm>
          <a:prstGeom prst="rect">
            <a:avLst/>
          </a:prstGeom>
          <a:noFill/>
          <a:ln w="0">
            <a:noFill/>
          </a:ln>
        </p:spPr>
        <p:txBody>
          <a:bodyPr wrap="square" lIns="0" tIns="0" rIns="0" bIns="0" anchor="t">
            <a:noAutofit/>
          </a:bodyPr>
          <a:lstStyle/>
          <a:p>
            <a:pPr>
              <a:buNone/>
              <a:defRPr sz="1200" b="0">
                <a:solidFill>
                  <a:srgbClr val="536875"/>
                </a:solidFill>
                <a:latin typeface="Arial"/>
                <a:ea typeface="Arial"/>
                <a:cs typeface="Arial"/>
              </a:defRPr>
            </a:pPr>
            <a:r>
              <a:rPr sz="1200" b="0">
                <a:solidFill>
                  <a:srgbClr val="536875"/>
                </a:solidFill>
                <a:latin typeface="Arial"/>
                <a:ea typeface="Arial"/>
                <a:cs typeface="Arial"/>
              </a:rPr>
              <a:t>.</a:t>
            </a:r>
          </a:p>
        </p:txBody>
      </p:sp>
    </p:spTree>
    <p:extLst>
      <p:ext uri="{BB962C8B-B14F-4D97-AF65-F5344CB8AC3E}">
        <p14:creationId xmlns:p14="http://schemas.microsoft.com/office/powerpoint/2010/main" val="181490487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244</TotalTime>
  <Words>834</Words>
  <Application>Microsoft Macintosh PowerPoint</Application>
  <DocSecurity>0</DocSecurity>
  <PresentationFormat>Widescreen</PresentationFormat>
  <Paragraphs>113</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Jinjie Wei</cp:lastModifiedBy>
  <cp:revision>3</cp:revision>
  <dcterms:created xsi:type="dcterms:W3CDTF">2026-09-16T11:57:51Z</dcterms:created>
  <dcterms:modified xsi:type="dcterms:W3CDTF">2026-09-16T16:22:34Z</dcterms:modified>
</cp:coreProperties>
</file>